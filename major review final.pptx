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3" r:id="rId2"/>
    <p:sldId id="271" r:id="rId3"/>
    <p:sldId id="366" r:id="rId4"/>
    <p:sldId id="369" r:id="rId5"/>
    <p:sldId id="370" r:id="rId6"/>
    <p:sldId id="367" r:id="rId7"/>
    <p:sldId id="361" r:id="rId8"/>
    <p:sldId id="342" r:id="rId9"/>
    <p:sldId id="372" r:id="rId10"/>
    <p:sldId id="375" r:id="rId11"/>
    <p:sldId id="383" r:id="rId12"/>
    <p:sldId id="371" r:id="rId13"/>
    <p:sldId id="391" r:id="rId14"/>
    <p:sldId id="353" r:id="rId15"/>
    <p:sldId id="390" r:id="rId16"/>
    <p:sldId id="395" r:id="rId17"/>
    <p:sldId id="397" r:id="rId18"/>
    <p:sldId id="396" r:id="rId19"/>
    <p:sldId id="275" r:id="rId20"/>
    <p:sldId id="39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04DC0-FBDE-4ADC-A63F-1A39298E09DD}" type="datetimeFigureOut">
              <a:rPr lang="en-IN" smtClean="0"/>
              <a:pPr/>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C55E3-CDEE-47DB-8C35-29014D773027}" type="slidenum">
              <a:rPr lang="en-IN" smtClean="0"/>
              <a:pPr/>
              <a:t>‹#›</a:t>
            </a:fld>
            <a:endParaRPr lang="en-IN"/>
          </a:p>
        </p:txBody>
      </p:sp>
    </p:spTree>
    <p:extLst>
      <p:ext uri="{BB962C8B-B14F-4D97-AF65-F5344CB8AC3E}">
        <p14:creationId xmlns:p14="http://schemas.microsoft.com/office/powerpoint/2010/main" val="2353552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DF89F88-414F-4B2E-9844-B29976A457B1}" type="slidenum">
              <a:rPr lang="en-IN" smtClean="0"/>
              <a:pPr/>
              <a:t>6</a:t>
            </a:fld>
            <a:endParaRPr lang="en-IN"/>
          </a:p>
        </p:txBody>
      </p:sp>
    </p:spTree>
    <p:extLst>
      <p:ext uri="{BB962C8B-B14F-4D97-AF65-F5344CB8AC3E}">
        <p14:creationId xmlns:p14="http://schemas.microsoft.com/office/powerpoint/2010/main" val="2677378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7C55E3-CDEE-47DB-8C35-29014D773027}" type="slidenum">
              <a:rPr lang="en-IN" smtClean="0"/>
              <a:pPr/>
              <a:t>14</a:t>
            </a:fld>
            <a:endParaRPr lang="en-IN"/>
          </a:p>
        </p:txBody>
      </p:sp>
    </p:spTree>
    <p:extLst>
      <p:ext uri="{BB962C8B-B14F-4D97-AF65-F5344CB8AC3E}">
        <p14:creationId xmlns:p14="http://schemas.microsoft.com/office/powerpoint/2010/main" val="447513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7C55E3-CDEE-47DB-8C35-29014D773027}" type="slidenum">
              <a:rPr lang="en-IN" smtClean="0"/>
              <a:pPr/>
              <a:t>15</a:t>
            </a:fld>
            <a:endParaRPr lang="en-IN"/>
          </a:p>
        </p:txBody>
      </p:sp>
    </p:spTree>
    <p:extLst>
      <p:ext uri="{BB962C8B-B14F-4D97-AF65-F5344CB8AC3E}">
        <p14:creationId xmlns:p14="http://schemas.microsoft.com/office/powerpoint/2010/main" val="1261897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D9537-5B1A-049E-3415-32ACEE142A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80462A-2123-ED3A-4A0C-3CE0054DDB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BA29F7-B643-D166-B051-64028DDD8C22}"/>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FD9E05F7-056F-6BBB-BF3D-CF995828FC1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D94330-24B5-8494-0AB3-55D7412068E6}"/>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1487014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EAD46-3594-3106-15D1-6DDCFDFADF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CF377B-550B-9A5B-A956-8ADF96F364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DD5DE-6979-8ACF-8A93-A46F47D31C78}"/>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4B438683-0CD6-96EF-F236-98ABAFF48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459429-0058-B68E-AA95-20FE87224734}"/>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172477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66A5-C38E-9A3D-FFE2-B3B6405C7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37E20B-97D8-1009-404E-AE1A3DE497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A68487-7F7C-D927-9FD0-9E6300907F59}"/>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F5331972-3A8C-57A7-2934-901F01B41B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681A52-3308-CB96-D77B-F29BCEDA50C3}"/>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20521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C1F61-3432-B92D-478F-E06DB01CA0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81714C-DCBE-DC4F-2E97-3F4C81F6C5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F34055-19A7-FCDD-F5E4-1D7EA7249C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911F61-B367-979F-3C89-2C2164102956}"/>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6" name="Footer Placeholder 5">
            <a:extLst>
              <a:ext uri="{FF2B5EF4-FFF2-40B4-BE49-F238E27FC236}">
                <a16:creationId xmlns:a16="http://schemas.microsoft.com/office/drawing/2014/main" id="{C21AEF5B-DC56-79CE-6475-0469370C41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51335C8-1CA9-D26C-CAF7-FF9164BBB952}"/>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2512462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28784-0A05-6F9B-1FB4-5B4EB9DD07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765C6C-1B28-DA1B-0B28-01C176A19C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C4875A-9E62-D8F5-2734-E277DCCBA4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EFABFE-AFE0-20BD-623F-FA8C3FC7CC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4C2174-B763-C136-D44D-B2BBA7B413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46409C-8031-30B0-2B28-5F87736A01F2}"/>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8" name="Footer Placeholder 7">
            <a:extLst>
              <a:ext uri="{FF2B5EF4-FFF2-40B4-BE49-F238E27FC236}">
                <a16:creationId xmlns:a16="http://schemas.microsoft.com/office/drawing/2014/main" id="{2D84D029-1906-A954-6237-3425AE42862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F93E3F1-5CE6-8FD2-C8FF-463CEB66EDAE}"/>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417382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4695E-D94F-67E9-331B-5F03082A58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CF8A73-3B84-E1CF-FE45-E3CEDCC091F6}"/>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4" name="Footer Placeholder 3">
            <a:extLst>
              <a:ext uri="{FF2B5EF4-FFF2-40B4-BE49-F238E27FC236}">
                <a16:creationId xmlns:a16="http://schemas.microsoft.com/office/drawing/2014/main" id="{0A98934A-EBB2-9E73-EB82-3FB64166FD1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D6F016-785E-20FA-7CD2-94B433002712}"/>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78353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1AABA8-749C-E721-29DC-75511B044D2B}"/>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3" name="Footer Placeholder 2">
            <a:extLst>
              <a:ext uri="{FF2B5EF4-FFF2-40B4-BE49-F238E27FC236}">
                <a16:creationId xmlns:a16="http://schemas.microsoft.com/office/drawing/2014/main" id="{3C9025D7-921F-3059-D101-6C3FF7F1BB5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0BD97C9-FF93-1428-4C1D-EDFAD083C6B4}"/>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234240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EDBA-7558-FA63-D63F-CC332CBF8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C36F54-7618-1E07-D8EF-DED2D4701A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3AE2C1-15C8-F6A2-B700-49390199C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E1133-8784-F785-0A94-492338ECC63A}"/>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6" name="Footer Placeholder 5">
            <a:extLst>
              <a:ext uri="{FF2B5EF4-FFF2-40B4-BE49-F238E27FC236}">
                <a16:creationId xmlns:a16="http://schemas.microsoft.com/office/drawing/2014/main" id="{D74F7518-52C9-EAB6-7465-58B9A5C6BC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6F7CFA-128F-28B1-F8A0-E6FF4DA93AEE}"/>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119559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488B-0208-DF55-2FA3-268382B33E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560172-5AAC-73F7-F77C-F845B3FCA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E408DCA-1C97-5CD0-753B-A0B5C85289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2D794B-FE1A-37FC-E896-E34D822E143E}"/>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6" name="Footer Placeholder 5">
            <a:extLst>
              <a:ext uri="{FF2B5EF4-FFF2-40B4-BE49-F238E27FC236}">
                <a16:creationId xmlns:a16="http://schemas.microsoft.com/office/drawing/2014/main" id="{1B636874-FF4C-C972-14F4-4833D6A69D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B87FA96-4AEA-3440-0220-AD3D8F8EBE3B}"/>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983123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7821A-B8D3-DACF-56F1-B701C03E1A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395AD9-82A0-C58C-908E-0587BE9A7E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A445F-ABB2-211D-110D-48F91FFB45DA}"/>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04F0DA66-53B3-DB6F-A4CC-0C77AC5D006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4FF1EA-5B5B-3BC3-50EB-2B95C841BDD8}"/>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711470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88DFF2-39A7-D3C3-747B-B3F0695FBF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3E53FD-285E-67C1-3BCE-396BEB855E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ED55F6-928F-D952-FE7F-D071DFDAA387}"/>
              </a:ext>
            </a:extLst>
          </p:cNvPr>
          <p:cNvSpPr>
            <a:spLocks noGrp="1"/>
          </p:cNvSpPr>
          <p:nvPr>
            <p:ph type="dt" sz="half" idx="10"/>
          </p:nvPr>
        </p:nvSpPr>
        <p:spPr/>
        <p:txBody>
          <a:body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6EC2083D-EBAB-E3DD-2768-659DCAC4D4B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3FB93E-6F3A-D31F-FCB2-5370F6123CCF}"/>
              </a:ext>
            </a:extLst>
          </p:cNvPr>
          <p:cNvSpPr>
            <a:spLocks noGrp="1"/>
          </p:cNvSpPr>
          <p:nvPr>
            <p:ph type="sldNum" sz="quarter" idx="12"/>
          </p:nvPr>
        </p:nvSpPr>
        <p:spPr/>
        <p:txBody>
          <a:body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3825787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ED5A0477-7739-4C3D-86CF-2E81943FFFF6}" type="slidenum">
              <a:t>‹#›</a:t>
            </a:fld>
            <a:endParaRPr/>
          </a:p>
        </p:txBody>
      </p:sp>
      <p:sp>
        <p:nvSpPr>
          <p:cNvPr id="6" name="PlaceHolder 5"/>
          <p:cNvSpPr>
            <a:spLocks noGrp="1"/>
          </p:cNvSpPr>
          <p:nvPr>
            <p:ph type="dt" idx="10"/>
          </p:nvPr>
        </p:nvSpPr>
        <p:spPr/>
        <p:txBody>
          <a:bodyPr/>
          <a:lstStyle/>
          <a:p>
            <a:endParaRPr/>
          </a:p>
        </p:txBody>
      </p:sp>
    </p:spTree>
    <p:extLst>
      <p:ext uri="{BB962C8B-B14F-4D97-AF65-F5344CB8AC3E}">
        <p14:creationId xmlns:p14="http://schemas.microsoft.com/office/powerpoint/2010/main" val="3726262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F0EE2B-FA4F-9384-3F33-83B0B71CB8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8DD1B9-A190-8AB7-73C3-418C508E8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FD543-A2D8-28A9-BE9F-A3839EE0F5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440B05-454D-4771-B95E-6AD5DF28CE0D}" type="datetimeFigureOut">
              <a:rPr lang="en-US" smtClean="0"/>
              <a:pPr/>
              <a:t>4/20/2026</a:t>
            </a:fld>
            <a:endParaRPr lang="en-US" dirty="0"/>
          </a:p>
        </p:txBody>
      </p:sp>
      <p:sp>
        <p:nvSpPr>
          <p:cNvPr id="5" name="Footer Placeholder 4">
            <a:extLst>
              <a:ext uri="{FF2B5EF4-FFF2-40B4-BE49-F238E27FC236}">
                <a16:creationId xmlns:a16="http://schemas.microsoft.com/office/drawing/2014/main" id="{7ED62064-3B6C-6522-40DC-A7EC0DE2D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FE73FE-6B06-3509-6AD5-E236401102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C5EB35-877C-46DF-8749-6F34CCF1D00B}" type="slidenum">
              <a:rPr lang="en-US" smtClean="0"/>
              <a:pPr/>
              <a:t>‹#›</a:t>
            </a:fld>
            <a:endParaRPr lang="en-US" dirty="0"/>
          </a:p>
        </p:txBody>
      </p:sp>
    </p:spTree>
    <p:extLst>
      <p:ext uri="{BB962C8B-B14F-4D97-AF65-F5344CB8AC3E}">
        <p14:creationId xmlns:p14="http://schemas.microsoft.com/office/powerpoint/2010/main" val="2012473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47900" y="1423131"/>
            <a:ext cx="7581900" cy="1050939"/>
          </a:xfrm>
        </p:spPr>
        <p:txBody>
          <a:bodyPr>
            <a:noAutofit/>
          </a:bodyPr>
          <a:lstStyle/>
          <a:p>
            <a:br>
              <a:rPr lang="en-US" sz="2400" b="1" kern="0" spc="-92" dirty="0">
                <a:solidFill>
                  <a:srgbClr val="000000"/>
                </a:solidFill>
                <a:latin typeface="Times New Roman" panose="02020603050405020304" pitchFamily="18" charset="0"/>
                <a:ea typeface="adonis-web" pitchFamily="34" charset="-122"/>
                <a:cs typeface="Times New Roman" panose="02020603050405020304" pitchFamily="18" charset="0"/>
              </a:rPr>
            </a:br>
            <a:br>
              <a:rPr lang="en-US" sz="2400" dirty="0"/>
            </a:br>
            <a:br>
              <a:rPr lang="en-IN" sz="2400" b="0" i="0" u="none" strike="noStrike" baseline="0" dirty="0">
                <a:solidFill>
                  <a:srgbClr val="000000"/>
                </a:solidFill>
                <a:latin typeface="Times New Roman" panose="02020603050405020304" pitchFamily="18" charset="0"/>
              </a:rPr>
            </a:br>
            <a:r>
              <a:rPr lang="en-US" sz="2400" b="0" i="0" u="none" strike="noStrike" baseline="0" dirty="0">
                <a:solidFill>
                  <a:srgbClr val="000000"/>
                </a:solidFill>
                <a:latin typeface="Times New Roman" panose="02020603050405020304" pitchFamily="18" charset="0"/>
              </a:rPr>
              <a:t> </a:t>
            </a:r>
            <a:r>
              <a:rPr lang="en-US" sz="2400" b="1" dirty="0">
                <a:latin typeface="Times New Roman" panose="02020603050405020304" pitchFamily="18" charset="0"/>
              </a:rPr>
              <a:t>Correlation-Aware Multimodal Analysis of Histopathological Imaging and Genomic Profiles for Breast Cancer</a:t>
            </a:r>
            <a:endParaRPr lang="en-US"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057400" y="3733800"/>
            <a:ext cx="8153401" cy="1752600"/>
          </a:xfrm>
        </p:spPr>
        <p:txBody>
          <a:bodyPr>
            <a:normAutofit/>
          </a:bodyPr>
          <a:lstStyle/>
          <a:p>
            <a:r>
              <a:rPr lang="en-US" sz="3833" b="1" dirty="0">
                <a:cs typeface="AngsanaUPC" panose="02020603050405020304" pitchFamily="18" charset="-34"/>
              </a:rPr>
              <a:t>Presented by</a:t>
            </a:r>
          </a:p>
          <a:p>
            <a:r>
              <a:rPr lang="en-US" sz="2667" b="1" kern="0" spc="-40" dirty="0">
                <a:solidFill>
                  <a:srgbClr val="000000"/>
                </a:solidFill>
                <a:latin typeface="Times New Roman" panose="02020603050405020304" pitchFamily="18" charset="0"/>
                <a:ea typeface="adonis-web" pitchFamily="34" charset="-122"/>
                <a:cs typeface="Times New Roman" panose="02020603050405020304" pitchFamily="18" charset="0"/>
              </a:rPr>
              <a:t>Ms. </a:t>
            </a:r>
            <a:r>
              <a:rPr lang="en-US" sz="2667" b="1" kern="0" spc="-40" dirty="0" err="1">
                <a:solidFill>
                  <a:srgbClr val="000000"/>
                </a:solidFill>
                <a:latin typeface="Times New Roman" panose="02020603050405020304" pitchFamily="18" charset="0"/>
                <a:ea typeface="adonis-web" pitchFamily="34" charset="-122"/>
                <a:cs typeface="Times New Roman" panose="02020603050405020304" pitchFamily="18" charset="0"/>
              </a:rPr>
              <a:t>Srinija</a:t>
            </a:r>
            <a:r>
              <a:rPr lang="en-US" sz="2667" b="1" kern="0" spc="-40" dirty="0">
                <a:solidFill>
                  <a:srgbClr val="000000"/>
                </a:solidFill>
                <a:latin typeface="Times New Roman" panose="02020603050405020304" pitchFamily="18" charset="0"/>
                <a:ea typeface="adonis-web" pitchFamily="34" charset="-122"/>
                <a:cs typeface="Times New Roman" panose="02020603050405020304" pitchFamily="18" charset="0"/>
              </a:rPr>
              <a:t> Naga Swapna  </a:t>
            </a:r>
            <a:r>
              <a:rPr lang="en-US" sz="2667" b="1" kern="0" spc="-40" dirty="0" err="1">
                <a:solidFill>
                  <a:srgbClr val="000000"/>
                </a:solidFill>
                <a:latin typeface="Times New Roman" panose="02020603050405020304" pitchFamily="18" charset="0"/>
                <a:ea typeface="adonis-web" pitchFamily="34" charset="-122"/>
                <a:cs typeface="Times New Roman" panose="02020603050405020304" pitchFamily="18" charset="0"/>
              </a:rPr>
              <a:t>Ramisetty</a:t>
            </a:r>
            <a:r>
              <a:rPr lang="en-US" sz="2667" b="1" kern="0" spc="-40" dirty="0">
                <a:solidFill>
                  <a:srgbClr val="000000"/>
                </a:solidFill>
                <a:latin typeface="Times New Roman" panose="02020603050405020304" pitchFamily="18" charset="0"/>
                <a:ea typeface="adonis-web" pitchFamily="34" charset="-122"/>
                <a:cs typeface="Times New Roman" panose="02020603050405020304" pitchFamily="18" charset="0"/>
              </a:rPr>
              <a:t> (228W1AA12I5)</a:t>
            </a:r>
          </a:p>
          <a:p>
            <a:r>
              <a:rPr lang="en-US" sz="2667" b="1" kern="0" spc="-40" dirty="0">
                <a:solidFill>
                  <a:srgbClr val="000000"/>
                </a:solidFill>
                <a:latin typeface="Times New Roman" panose="02020603050405020304" pitchFamily="18" charset="0"/>
                <a:ea typeface="adonis-web" pitchFamily="34" charset="-122"/>
                <a:cs typeface="Times New Roman" panose="02020603050405020304" pitchFamily="18" charset="0"/>
              </a:rPr>
              <a:t>Ms. Gowri Naga Amrutha </a:t>
            </a:r>
            <a:r>
              <a:rPr lang="en-US" sz="2667" b="1" kern="0" spc="-40" dirty="0" err="1">
                <a:solidFill>
                  <a:srgbClr val="000000"/>
                </a:solidFill>
                <a:latin typeface="Times New Roman" panose="02020603050405020304" pitchFamily="18" charset="0"/>
                <a:ea typeface="adonis-web" pitchFamily="34" charset="-122"/>
                <a:cs typeface="Times New Roman" panose="02020603050405020304" pitchFamily="18" charset="0"/>
              </a:rPr>
              <a:t>Samatam</a:t>
            </a:r>
            <a:r>
              <a:rPr lang="en-US" sz="2667" b="1" kern="0" spc="-40" dirty="0">
                <a:solidFill>
                  <a:srgbClr val="000000"/>
                </a:solidFill>
                <a:latin typeface="Times New Roman" panose="02020603050405020304" pitchFamily="18" charset="0"/>
                <a:ea typeface="adonis-web" pitchFamily="34" charset="-122"/>
                <a:cs typeface="Times New Roman" panose="02020603050405020304" pitchFamily="18" charset="0"/>
              </a:rPr>
              <a:t>(228W1AA12I7)</a:t>
            </a:r>
          </a:p>
          <a:p>
            <a:endParaRPr lang="en-US" sz="2667" dirty="0"/>
          </a:p>
          <a:p>
            <a:endParaRPr lang="en-US" sz="2667" dirty="0"/>
          </a:p>
          <a:p>
            <a:endParaRPr lang="en-US" b="1" dirty="0">
              <a:solidFill>
                <a:srgbClr val="7030A0"/>
              </a:solidFill>
              <a:cs typeface="AngsanaUPC" panose="02020603050405020304" pitchFamily="18" charset="-34"/>
            </a:endParaRPr>
          </a:p>
          <a:p>
            <a:endParaRPr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2" y="353064"/>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0200" y="92668"/>
            <a:ext cx="1068572"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446721" y="267370"/>
            <a:ext cx="5486400" cy="758857"/>
          </a:xfrm>
          <a:prstGeom prst="rect">
            <a:avLst/>
          </a:prstGeom>
          <a:noFill/>
        </p:spPr>
        <p:txBody>
          <a:bodyPr wrap="square" lIns="19998" tIns="9999" rIns="19998" bIns="9999" rtlCol="0">
            <a:spAutoFit/>
          </a:bodyPr>
          <a:lstStyle/>
          <a:p>
            <a:pPr algn="ctr"/>
            <a:r>
              <a:rPr lang="en-IN" sz="2400" b="1" dirty="0">
                <a:solidFill>
                  <a:srgbClr val="0000FF"/>
                </a:solidFill>
                <a:cs typeface="Times New Roman" pitchFamily="18" charset="0"/>
              </a:rPr>
              <a:t>Department of Information Technology</a:t>
            </a:r>
          </a:p>
          <a:p>
            <a:pPr algn="ctr"/>
            <a:r>
              <a:rPr lang="en-IN" sz="2400" b="1" dirty="0">
                <a:solidFill>
                  <a:srgbClr val="FF0000"/>
                </a:solidFill>
                <a:cs typeface="Times New Roman" pitchFamily="18" charset="0"/>
              </a:rPr>
              <a:t>V R Siddhartha Engineering College </a:t>
            </a:r>
          </a:p>
        </p:txBody>
      </p:sp>
      <p:sp>
        <p:nvSpPr>
          <p:cNvPr id="8" name="TextBox 7"/>
          <p:cNvSpPr txBox="1"/>
          <p:nvPr/>
        </p:nvSpPr>
        <p:spPr>
          <a:xfrm>
            <a:off x="3561021" y="2937418"/>
            <a:ext cx="5257800" cy="707886"/>
          </a:xfrm>
          <a:prstGeom prst="rect">
            <a:avLst/>
          </a:prstGeom>
          <a:noFill/>
        </p:spPr>
        <p:txBody>
          <a:bodyPr wrap="square" rtlCol="0">
            <a:spAutoFit/>
          </a:bodyPr>
          <a:lstStyle/>
          <a:p>
            <a:pPr algn="ctr"/>
            <a:r>
              <a:rPr lang="en-US" sz="2000" b="1" dirty="0">
                <a:solidFill>
                  <a:srgbClr val="FF0000"/>
                </a:solidFill>
              </a:rPr>
              <a:t>B.Tech in Information Technology</a:t>
            </a:r>
          </a:p>
          <a:p>
            <a:pPr algn="ctr"/>
            <a:r>
              <a:rPr lang="en-US" sz="2000" b="1" dirty="0">
                <a:solidFill>
                  <a:srgbClr val="BF11A6"/>
                </a:solidFill>
              </a:rPr>
              <a:t>MAJOR Project Review Presentation</a:t>
            </a:r>
          </a:p>
        </p:txBody>
      </p:sp>
      <p:sp>
        <p:nvSpPr>
          <p:cNvPr id="4" name="Rectangle 3"/>
          <p:cNvSpPr/>
          <p:nvPr/>
        </p:nvSpPr>
        <p:spPr>
          <a:xfrm>
            <a:off x="3903921" y="5638801"/>
            <a:ext cx="4572000" cy="646331"/>
          </a:xfrm>
          <a:prstGeom prst="rect">
            <a:avLst/>
          </a:prstGeom>
        </p:spPr>
        <p:txBody>
          <a:bodyPr>
            <a:spAutoFit/>
          </a:bodyPr>
          <a:lstStyle/>
          <a:p>
            <a:pPr algn="ctr"/>
            <a:r>
              <a:rPr lang="en-US" sz="1600" dirty="0">
                <a:cs typeface="AngsanaUPC" panose="02020603050405020304" pitchFamily="18" charset="-34"/>
              </a:rPr>
              <a:t>Under the guidance of </a:t>
            </a:r>
          </a:p>
          <a:p>
            <a:pPr algn="ctr"/>
            <a:r>
              <a:rPr lang="en-US" sz="2000" b="1" dirty="0">
                <a:solidFill>
                  <a:srgbClr val="FF0000"/>
                </a:solidFill>
                <a:latin typeface="Times New Roman" panose="02020603050405020304" pitchFamily="18" charset="0"/>
                <a:cs typeface="Times New Roman" panose="02020603050405020304" pitchFamily="18" charset="0"/>
              </a:rPr>
              <a:t>Dr </a:t>
            </a:r>
            <a:r>
              <a:rPr lang="en-US" sz="2000" b="1" dirty="0" err="1">
                <a:solidFill>
                  <a:srgbClr val="FF0000"/>
                </a:solidFill>
                <a:latin typeface="Times New Roman" panose="02020603050405020304" pitchFamily="18" charset="0"/>
                <a:cs typeface="Times New Roman" panose="02020603050405020304" pitchFamily="18" charset="0"/>
              </a:rPr>
              <a:t>M.Ashok</a:t>
            </a:r>
            <a:r>
              <a:rPr lang="en-US" sz="2000" b="1" dirty="0">
                <a:solidFill>
                  <a:srgbClr val="FF0000"/>
                </a:solidFill>
                <a:latin typeface="Times New Roman" panose="02020603050405020304" pitchFamily="18" charset="0"/>
                <a:cs typeface="Times New Roman" panose="02020603050405020304" pitchFamily="18" charset="0"/>
              </a:rPr>
              <a:t> Kumar</a:t>
            </a:r>
            <a:r>
              <a:rPr lang="en-US" b="1" dirty="0">
                <a:solidFill>
                  <a:srgbClr val="FF0000"/>
                </a:solidFill>
                <a:latin typeface="Times New Roman" panose="02020603050405020304" pitchFamily="18" charset="0"/>
                <a:cs typeface="Times New Roman" panose="02020603050405020304" pitchFamily="18" charset="0"/>
              </a:rPr>
              <a:t>, Associate Professor </a:t>
            </a:r>
            <a:endParaRPr lang="en-US" b="1" dirty="0">
              <a:solidFill>
                <a:srgbClr val="FF0000"/>
              </a:solidFill>
              <a:cs typeface="AngsanaUPC" panose="02020603050405020304" pitchFamily="18" charset="-34"/>
            </a:endParaRPr>
          </a:p>
        </p:txBody>
      </p:sp>
      <p:sp>
        <p:nvSpPr>
          <p:cNvPr id="9" name="TextBox 8"/>
          <p:cNvSpPr txBox="1"/>
          <p:nvPr/>
        </p:nvSpPr>
        <p:spPr>
          <a:xfrm>
            <a:off x="3446721" y="2457603"/>
            <a:ext cx="5087679" cy="646331"/>
          </a:xfrm>
          <a:prstGeom prst="rect">
            <a:avLst/>
          </a:prstGeom>
          <a:noFill/>
        </p:spPr>
        <p:txBody>
          <a:bodyPr wrap="square" rtlCol="0">
            <a:spAutoFit/>
          </a:bodyPr>
          <a:lstStyle/>
          <a:p>
            <a:pPr algn="ctr"/>
            <a:r>
              <a:rPr lang="en-US" b="1" dirty="0">
                <a:solidFill>
                  <a:srgbClr val="00B050"/>
                </a:solidFill>
              </a:rPr>
              <a:t>Histopathological Imaging, Genomic Profiles and Oncology</a:t>
            </a:r>
          </a:p>
        </p:txBody>
      </p:sp>
      <p:sp>
        <p:nvSpPr>
          <p:cNvPr id="10" name="Date Placeholder 9"/>
          <p:cNvSpPr>
            <a:spLocks noGrp="1"/>
          </p:cNvSpPr>
          <p:nvPr>
            <p:ph type="dt" sz="half" idx="10"/>
          </p:nvPr>
        </p:nvSpPr>
        <p:spPr/>
        <p:txBody>
          <a:bodyPr/>
          <a:lstStyle/>
          <a:p>
            <a:r>
              <a:rPr lang="en-US" dirty="0"/>
              <a:t>15-04-2026</a:t>
            </a:r>
          </a:p>
        </p:txBody>
      </p:sp>
    </p:spTree>
    <p:extLst>
      <p:ext uri="{BB962C8B-B14F-4D97-AF65-F5344CB8AC3E}">
        <p14:creationId xmlns:p14="http://schemas.microsoft.com/office/powerpoint/2010/main" val="1813908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36356-F37A-B84A-97AE-498608774180}"/>
              </a:ext>
            </a:extLst>
          </p:cNvPr>
          <p:cNvSpPr>
            <a:spLocks noGrp="1"/>
          </p:cNvSpPr>
          <p:nvPr>
            <p:ph type="title"/>
          </p:nvPr>
        </p:nvSpPr>
        <p:spPr>
          <a:xfrm>
            <a:off x="838200" y="205063"/>
            <a:ext cx="10515600" cy="1325563"/>
          </a:xfrm>
        </p:spPr>
        <p:txBody>
          <a:bodyPr/>
          <a:lstStyle/>
          <a:p>
            <a:r>
              <a:rPr lang="en-IN" b="1"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9FB1D8A9-9B6C-5423-4FB2-6F39879A846F}"/>
              </a:ext>
            </a:extLst>
          </p:cNvPr>
          <p:cNvSpPr>
            <a:spLocks noGrp="1"/>
          </p:cNvSpPr>
          <p:nvPr>
            <p:ph idx="1"/>
          </p:nvPr>
        </p:nvSpPr>
        <p:spPr>
          <a:xfrm>
            <a:off x="838200" y="1652336"/>
            <a:ext cx="10515600" cy="4482373"/>
          </a:xfrm>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Introduction and Problem statement</a:t>
            </a:r>
          </a:p>
          <a:p>
            <a:r>
              <a:rPr lang="en-IN" dirty="0">
                <a:latin typeface="Times New Roman" panose="02020603050405020304" pitchFamily="18" charset="0"/>
                <a:cs typeface="Times New Roman" panose="02020603050405020304" pitchFamily="18" charset="0"/>
              </a:rPr>
              <a:t>Objectives and outcomes</a:t>
            </a:r>
          </a:p>
          <a:p>
            <a:r>
              <a:rPr lang="en-IN" dirty="0">
                <a:latin typeface="Times New Roman" panose="02020603050405020304" pitchFamily="18" charset="0"/>
                <a:cs typeface="Times New Roman" panose="02020603050405020304" pitchFamily="18" charset="0"/>
              </a:rPr>
              <a:t>Literature Summary</a:t>
            </a:r>
          </a:p>
          <a:p>
            <a:r>
              <a:rPr lang="en-IN" dirty="0">
                <a:latin typeface="Times New Roman" panose="02020603050405020304" pitchFamily="18" charset="0"/>
                <a:cs typeface="Times New Roman" panose="02020603050405020304" pitchFamily="18" charset="0"/>
              </a:rPr>
              <a:t>Datasets and Requirements</a:t>
            </a:r>
          </a:p>
          <a:p>
            <a:r>
              <a:rPr lang="en-IN" dirty="0">
                <a:latin typeface="Times New Roman" panose="02020603050405020304" pitchFamily="18" charset="0"/>
                <a:cs typeface="Times New Roman" panose="02020603050405020304" pitchFamily="18" charset="0"/>
              </a:rPr>
              <a:t> Algorithms used in the project</a:t>
            </a:r>
          </a:p>
          <a:p>
            <a:r>
              <a:rPr lang="en-IN" dirty="0">
                <a:latin typeface="Times New Roman" panose="02020603050405020304" pitchFamily="18" charset="0"/>
                <a:cs typeface="Times New Roman" panose="02020603050405020304" pitchFamily="18" charset="0"/>
              </a:rPr>
              <a:t>Architecture diagram</a:t>
            </a:r>
          </a:p>
          <a:p>
            <a:r>
              <a:rPr lang="en-IN" dirty="0">
                <a:latin typeface="Times New Roman" panose="02020603050405020304" pitchFamily="18" charset="0"/>
                <a:cs typeface="Times New Roman" panose="02020603050405020304" pitchFamily="18" charset="0"/>
              </a:rPr>
              <a:t>Implementation steps and Execution </a:t>
            </a:r>
          </a:p>
          <a:p>
            <a:r>
              <a:rPr lang="en-IN" dirty="0">
                <a:latin typeface="Times New Roman" panose="02020603050405020304" pitchFamily="18" charset="0"/>
                <a:cs typeface="Times New Roman" panose="02020603050405020304" pitchFamily="18" charset="0"/>
              </a:rPr>
              <a:t>Complete Results Obtained</a:t>
            </a:r>
          </a:p>
          <a:p>
            <a:r>
              <a:rPr lang="en-IN" dirty="0">
                <a:latin typeface="Times New Roman" panose="02020603050405020304" pitchFamily="18" charset="0"/>
                <a:cs typeface="Times New Roman" panose="02020603050405020304" pitchFamily="18" charset="0"/>
              </a:rPr>
              <a:t>Result analysis with charts</a:t>
            </a:r>
          </a:p>
          <a:p>
            <a:r>
              <a:rPr lang="en-IN" dirty="0">
                <a:latin typeface="Times New Roman" panose="02020603050405020304" pitchFamily="18" charset="0"/>
                <a:cs typeface="Times New Roman" panose="02020603050405020304" pitchFamily="18" charset="0"/>
              </a:rPr>
              <a:t>Conclusion and Future work</a:t>
            </a:r>
          </a:p>
          <a:p>
            <a:r>
              <a:rPr lang="en-IN" dirty="0">
                <a:latin typeface="Times New Roman" panose="02020603050405020304" pitchFamily="18" charset="0"/>
                <a:cs typeface="Times New Roman" panose="02020603050405020304" pitchFamily="18" charset="0"/>
              </a:rPr>
              <a:t>References</a:t>
            </a:r>
          </a:p>
          <a:p>
            <a:endParaRPr lang="en-IN" dirty="0"/>
          </a:p>
        </p:txBody>
      </p:sp>
    </p:spTree>
    <p:extLst>
      <p:ext uri="{BB962C8B-B14F-4D97-AF65-F5344CB8AC3E}">
        <p14:creationId xmlns:p14="http://schemas.microsoft.com/office/powerpoint/2010/main" val="140101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0A2D-2545-382A-2707-C45E813C70A8}"/>
              </a:ext>
            </a:extLst>
          </p:cNvPr>
          <p:cNvSpPr>
            <a:spLocks noGrp="1"/>
          </p:cNvSpPr>
          <p:nvPr>
            <p:ph type="title"/>
          </p:nvPr>
        </p:nvSpPr>
        <p:spPr>
          <a:xfrm>
            <a:off x="526774" y="556590"/>
            <a:ext cx="10515600" cy="931665"/>
          </a:xfrm>
        </p:spPr>
        <p:txBody>
          <a:bodyPr>
            <a:normAutofit fontScale="90000"/>
          </a:bodyPr>
          <a:lstStyle/>
          <a:p>
            <a:r>
              <a:rPr lang="en-IN" b="1" dirty="0">
                <a:latin typeface="Times New Roman" panose="02020603050405020304" pitchFamily="18" charset="0"/>
                <a:cs typeface="Times New Roman" panose="02020603050405020304" pitchFamily="18" charset="0"/>
              </a:rPr>
              <a:t>Introduction</a:t>
            </a:r>
            <a:br>
              <a:rPr lang="en-IN" b="1" dirty="0">
                <a:latin typeface="Times New Roman" panose="02020603050405020304" pitchFamily="18" charset="0"/>
                <a:cs typeface="Times New Roman" panose="02020603050405020304" pitchFamily="18" charset="0"/>
              </a:rPr>
            </a:br>
            <a:endParaRPr lang="en-IN" b="1" dirty="0"/>
          </a:p>
        </p:txBody>
      </p:sp>
      <p:sp>
        <p:nvSpPr>
          <p:cNvPr id="3" name="Content Placeholder 2">
            <a:extLst>
              <a:ext uri="{FF2B5EF4-FFF2-40B4-BE49-F238E27FC236}">
                <a16:creationId xmlns:a16="http://schemas.microsoft.com/office/drawing/2014/main" id="{2DD620AC-70B0-1648-9A3B-E914AB5A0EFA}"/>
              </a:ext>
            </a:extLst>
          </p:cNvPr>
          <p:cNvSpPr>
            <a:spLocks noGrp="1"/>
          </p:cNvSpPr>
          <p:nvPr>
            <p:ph idx="1"/>
          </p:nvPr>
        </p:nvSpPr>
        <p:spPr>
          <a:xfrm>
            <a:off x="553278" y="1388865"/>
            <a:ext cx="11111948" cy="1871170"/>
          </a:xfrm>
        </p:spPr>
        <p:txBody>
          <a:bodyPr>
            <a:no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Breast cancer demonstrates complex interactions between underlying molecular alterations and observable tissue morphology. However, traditional approaches often study histopathological features and genomic profiles separately, leading to incomplete and fragmented understanding of the disease. To achieve more accurate and holistic insights, there is a growing need to integrate these modalities into unified computational frameworks, enabling a deeper, patient-centric analysis that supports advancements in precision oncology.</a:t>
            </a:r>
            <a:endParaRPr lang="en-IN" sz="2000" dirty="0">
              <a:latin typeface="Times New Roman" panose="02020603050405020304" pitchFamily="18" charset="0"/>
              <a:cs typeface="Times New Roman" panose="02020603050405020304" pitchFamily="18" charset="0"/>
            </a:endParaRPr>
          </a:p>
        </p:txBody>
      </p:sp>
      <p:pic>
        <p:nvPicPr>
          <p:cNvPr id="2050" name="Picture 2" descr="The Genomic and Biologic Landscapes of Breast Cancer and Racial Differences">
            <a:extLst>
              <a:ext uri="{FF2B5EF4-FFF2-40B4-BE49-F238E27FC236}">
                <a16:creationId xmlns:a16="http://schemas.microsoft.com/office/drawing/2014/main" id="{366058AD-B109-D687-ECD3-012973B70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678" y="3677479"/>
            <a:ext cx="10803835" cy="3062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68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EE214-0C3E-BA60-7F20-CFCBA226D822}"/>
              </a:ext>
            </a:extLst>
          </p:cNvPr>
          <p:cNvSpPr>
            <a:spLocks noGrp="1"/>
          </p:cNvSpPr>
          <p:nvPr>
            <p:ph type="title"/>
          </p:nvPr>
        </p:nvSpPr>
        <p:spPr>
          <a:xfrm>
            <a:off x="708086" y="0"/>
            <a:ext cx="10515600" cy="1325563"/>
          </a:xfrm>
        </p:spPr>
        <p:txBody>
          <a:bodyPr/>
          <a:lstStyle/>
          <a:p>
            <a:r>
              <a:rPr lang="en-US" b="1" kern="0" spc="-89" dirty="0">
                <a:solidFill>
                  <a:srgbClr val="000000"/>
                </a:solidFill>
                <a:latin typeface="Times New Roman" pitchFamily="18" charset="0"/>
                <a:ea typeface="adonis-web" pitchFamily="34" charset="-122"/>
                <a:cs typeface="Times New Roman" pitchFamily="18" charset="0"/>
              </a:rPr>
              <a:t>Problem statement</a:t>
            </a:r>
            <a:endParaRPr lang="en-IN" dirty="0"/>
          </a:p>
        </p:txBody>
      </p:sp>
      <p:sp>
        <p:nvSpPr>
          <p:cNvPr id="3" name="Content Placeholder 2">
            <a:extLst>
              <a:ext uri="{FF2B5EF4-FFF2-40B4-BE49-F238E27FC236}">
                <a16:creationId xmlns:a16="http://schemas.microsoft.com/office/drawing/2014/main" id="{68C3B7D6-2662-66D1-11D4-D93146309045}"/>
              </a:ext>
            </a:extLst>
          </p:cNvPr>
          <p:cNvSpPr>
            <a:spLocks noGrp="1"/>
          </p:cNvSpPr>
          <p:nvPr>
            <p:ph idx="1"/>
          </p:nvPr>
        </p:nvSpPr>
        <p:spPr>
          <a:xfrm>
            <a:off x="616226" y="1157644"/>
            <a:ext cx="7871791" cy="5412121"/>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Breast cancer research involves analyzing both histopathological tissue images and genomic data to understand tumor characteristics and biological mechanisms. However, these two types of data are usually studied separately in many existing approaches, which limits the ability to understand the relationship between tissue morphology and gene expression patterns. Histopathological images provide important structural information about tumor cells and tissue organization, while gene expression data reflects the molecular behavior of cancer. The lack of effective methods to examine the association between imaging features and genomic information creates a gap in understanding how tissue-level characteristics relate to molecular activity in breast cancer. Therefore, there is a need to investigate the relationship between histopathological image features and gene expression patterns to better understand the underlying biological associations in breast cancer data.</a:t>
            </a:r>
            <a:endParaRPr lang="en-IN" sz="1800" dirty="0">
              <a:latin typeface="Times New Roman" panose="02020603050405020304" pitchFamily="18" charset="0"/>
              <a:cs typeface="Times New Roman" panose="02020603050405020304" pitchFamily="18" charset="0"/>
            </a:endParaRPr>
          </a:p>
        </p:txBody>
      </p:sp>
      <p:pic>
        <p:nvPicPr>
          <p:cNvPr id="4" name="Picture 2" descr="Breast cancer: Lack of early detection killing thousands of women every  year, ETHealthworld">
            <a:extLst>
              <a:ext uri="{FF2B5EF4-FFF2-40B4-BE49-F238E27FC236}">
                <a16:creationId xmlns:a16="http://schemas.microsoft.com/office/drawing/2014/main" id="{DA11F355-2CC1-1D66-02B2-9CBE96E0B3F6}"/>
              </a:ext>
            </a:extLst>
          </p:cNvPr>
          <p:cNvPicPr/>
          <p:nvPr/>
        </p:nvPicPr>
        <p:blipFill>
          <a:blip r:embed="rId2"/>
          <a:stretch/>
        </p:blipFill>
        <p:spPr>
          <a:xfrm>
            <a:off x="9018644" y="1325563"/>
            <a:ext cx="2857260" cy="5162854"/>
          </a:xfrm>
          <a:prstGeom prst="rect">
            <a:avLst/>
          </a:prstGeom>
          <a:ln w="0">
            <a:noFill/>
          </a:ln>
        </p:spPr>
      </p:pic>
    </p:spTree>
    <p:extLst>
      <p:ext uri="{BB962C8B-B14F-4D97-AF65-F5344CB8AC3E}">
        <p14:creationId xmlns:p14="http://schemas.microsoft.com/office/powerpoint/2010/main" val="154735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98DA-7108-E14A-1B87-405E652B0BB5}"/>
              </a:ext>
            </a:extLst>
          </p:cNvPr>
          <p:cNvSpPr>
            <a:spLocks noGrp="1"/>
          </p:cNvSpPr>
          <p:nvPr>
            <p:ph type="title"/>
          </p:nvPr>
        </p:nvSpPr>
        <p:spPr>
          <a:xfrm>
            <a:off x="838200" y="211395"/>
            <a:ext cx="10515600" cy="1071478"/>
          </a:xfrm>
        </p:spPr>
        <p:txBody>
          <a:bodyPr/>
          <a:lstStyle/>
          <a:p>
            <a:r>
              <a:rPr lang="en-US" b="1" dirty="0">
                <a:latin typeface="Times New Roman" pitchFamily="18" charset="0"/>
                <a:cs typeface="Times New Roman" pitchFamily="18" charset="0"/>
              </a:rPr>
              <a:t>Objectives and Outcomes of the Project</a:t>
            </a:r>
            <a:endParaRPr lang="en-IN" dirty="0"/>
          </a:p>
        </p:txBody>
      </p:sp>
      <p:sp>
        <p:nvSpPr>
          <p:cNvPr id="3" name="Content Placeholder 2">
            <a:extLst>
              <a:ext uri="{FF2B5EF4-FFF2-40B4-BE49-F238E27FC236}">
                <a16:creationId xmlns:a16="http://schemas.microsoft.com/office/drawing/2014/main" id="{22AF9EED-EC84-D786-AF3F-9395B9AF32CF}"/>
              </a:ext>
            </a:extLst>
          </p:cNvPr>
          <p:cNvSpPr>
            <a:spLocks noGrp="1"/>
          </p:cNvSpPr>
          <p:nvPr>
            <p:ph idx="1"/>
          </p:nvPr>
        </p:nvSpPr>
        <p:spPr>
          <a:xfrm>
            <a:off x="937591" y="1399921"/>
            <a:ext cx="10515600" cy="5159905"/>
          </a:xfrm>
        </p:spPr>
        <p:txBody>
          <a:bodyPr>
            <a:normAutofit/>
          </a:bodyPr>
          <a:lstStyle/>
          <a:p>
            <a:pPr marL="0" indent="0" eaLnBrk="0" fontAlgn="base" hangingPunct="0">
              <a:lnSpc>
                <a:spcPct val="150000"/>
              </a:lnSpc>
              <a:spcBef>
                <a:spcPct val="0"/>
              </a:spcBef>
              <a:spcAft>
                <a:spcPct val="0"/>
              </a:spcAft>
              <a:buNone/>
            </a:pPr>
            <a:r>
              <a:rPr lang="en-US" altLang="en-US" sz="2400" b="1" dirty="0">
                <a:latin typeface="Times New Roman" panose="02020603050405020304" pitchFamily="18" charset="0"/>
                <a:cs typeface="Times New Roman" pitchFamily="18" charset="0"/>
              </a:rPr>
              <a:t>Objectives:</a:t>
            </a:r>
          </a:p>
          <a:p>
            <a:r>
              <a:rPr lang="en-US" sz="2000" dirty="0">
                <a:latin typeface="Times New Roman" panose="02020603050405020304" pitchFamily="18" charset="0"/>
                <a:cs typeface="Times New Roman" panose="02020603050405020304" pitchFamily="18" charset="0"/>
              </a:rPr>
              <a:t>Preprocess histopathological image data and gene expression data obtained from different datasets for multimodal analysis.</a:t>
            </a:r>
          </a:p>
          <a:p>
            <a:r>
              <a:rPr lang="en-US" sz="2000" dirty="0">
                <a:latin typeface="Times New Roman" panose="02020603050405020304" pitchFamily="18" charset="0"/>
                <a:cs typeface="Times New Roman" panose="02020603050405020304" pitchFamily="18" charset="0"/>
              </a:rPr>
              <a:t>Extract meaningful features from histopathological images and reduce genomic feature dimensions for effective analysis.</a:t>
            </a:r>
          </a:p>
          <a:p>
            <a:r>
              <a:rPr lang="en-US" sz="2000" dirty="0">
                <a:latin typeface="Times New Roman" panose="02020603050405020304" pitchFamily="18" charset="0"/>
                <a:cs typeface="Times New Roman" panose="02020603050405020304" pitchFamily="18" charset="0"/>
              </a:rPr>
              <a:t>Perform correlation analysis between image features and gene expression patterns and develop a local interface to test and visualize the results.</a:t>
            </a:r>
          </a:p>
          <a:p>
            <a:pPr marL="0" indent="0">
              <a:buNone/>
            </a:pPr>
            <a:r>
              <a:rPr lang="en-US" altLang="en-US" sz="2400" b="1" dirty="0">
                <a:latin typeface="Times New Roman" panose="02020603050405020304" pitchFamily="18" charset="0"/>
                <a:cs typeface="Times New Roman" pitchFamily="18" charset="0"/>
              </a:rPr>
              <a:t>Outcomes:</a:t>
            </a:r>
          </a:p>
          <a:p>
            <a:r>
              <a:rPr lang="en-US" sz="2000" dirty="0">
                <a:latin typeface="Times New Roman" panose="02020603050405020304" pitchFamily="18" charset="0"/>
                <a:cs typeface="Times New Roman" panose="02020603050405020304" pitchFamily="18" charset="0"/>
              </a:rPr>
              <a:t>A cleaned and structured multimodal dataset prepared from histopathological images and gene expression data.</a:t>
            </a:r>
          </a:p>
          <a:p>
            <a:r>
              <a:rPr lang="en-US" sz="2000" dirty="0">
                <a:latin typeface="Times New Roman" panose="02020603050405020304" pitchFamily="18" charset="0"/>
                <a:cs typeface="Times New Roman" panose="02020603050405020304" pitchFamily="18" charset="0"/>
              </a:rPr>
              <a:t>Extracted image feature representations and reduced genomic feature vectors suitable for analysis.</a:t>
            </a:r>
          </a:p>
          <a:p>
            <a:r>
              <a:rPr lang="en-US" sz="2000" dirty="0">
                <a:latin typeface="Times New Roman" panose="02020603050405020304" pitchFamily="18" charset="0"/>
                <a:cs typeface="Times New Roman" panose="02020603050405020304" pitchFamily="18" charset="0"/>
              </a:rPr>
              <a:t>Correlation results indicating the relationship between image features and gene expression patterns, along with a local interface for testing and visualization.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443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49BB243-1276-CDB0-292B-1D9B90119795}"/>
              </a:ext>
            </a:extLst>
          </p:cNvPr>
          <p:cNvGraphicFramePr>
            <a:graphicFrameLocks noGrp="1"/>
          </p:cNvGraphicFramePr>
          <p:nvPr>
            <p:extLst>
              <p:ext uri="{D42A27DB-BD31-4B8C-83A1-F6EECF244321}">
                <p14:modId xmlns:p14="http://schemas.microsoft.com/office/powerpoint/2010/main" val="1088533587"/>
              </p:ext>
            </p:extLst>
          </p:nvPr>
        </p:nvGraphicFramePr>
        <p:xfrm>
          <a:off x="0" y="772465"/>
          <a:ext cx="12192000" cy="6128630"/>
        </p:xfrm>
        <a:graphic>
          <a:graphicData uri="http://schemas.openxmlformats.org/drawingml/2006/table">
            <a:tbl>
              <a:tblPr firstRow="1" bandRow="1">
                <a:tableStyleId>{5C22544A-7EE6-4342-B048-85BDC9FD1C3A}</a:tableStyleId>
              </a:tblPr>
              <a:tblGrid>
                <a:gridCol w="1303897">
                  <a:extLst>
                    <a:ext uri="{9D8B030D-6E8A-4147-A177-3AD203B41FA5}">
                      <a16:colId xmlns:a16="http://schemas.microsoft.com/office/drawing/2014/main" val="1214777544"/>
                    </a:ext>
                  </a:extLst>
                </a:gridCol>
                <a:gridCol w="699501">
                  <a:extLst>
                    <a:ext uri="{9D8B030D-6E8A-4147-A177-3AD203B41FA5}">
                      <a16:colId xmlns:a16="http://schemas.microsoft.com/office/drawing/2014/main" val="2677779301"/>
                    </a:ext>
                  </a:extLst>
                </a:gridCol>
                <a:gridCol w="2007266">
                  <a:extLst>
                    <a:ext uri="{9D8B030D-6E8A-4147-A177-3AD203B41FA5}">
                      <a16:colId xmlns:a16="http://schemas.microsoft.com/office/drawing/2014/main" val="2394381655"/>
                    </a:ext>
                  </a:extLst>
                </a:gridCol>
                <a:gridCol w="1976853">
                  <a:extLst>
                    <a:ext uri="{9D8B030D-6E8A-4147-A177-3AD203B41FA5}">
                      <a16:colId xmlns:a16="http://schemas.microsoft.com/office/drawing/2014/main" val="192179784"/>
                    </a:ext>
                  </a:extLst>
                </a:gridCol>
                <a:gridCol w="2990623">
                  <a:extLst>
                    <a:ext uri="{9D8B030D-6E8A-4147-A177-3AD203B41FA5}">
                      <a16:colId xmlns:a16="http://schemas.microsoft.com/office/drawing/2014/main" val="2980255413"/>
                    </a:ext>
                  </a:extLst>
                </a:gridCol>
                <a:gridCol w="3213860">
                  <a:extLst>
                    <a:ext uri="{9D8B030D-6E8A-4147-A177-3AD203B41FA5}">
                      <a16:colId xmlns:a16="http://schemas.microsoft.com/office/drawing/2014/main" val="839136272"/>
                    </a:ext>
                  </a:extLst>
                </a:gridCol>
              </a:tblGrid>
              <a:tr h="362957">
                <a:tc>
                  <a:txBody>
                    <a:bodyPr/>
                    <a:lstStyle/>
                    <a:p>
                      <a:pPr lvl="0">
                        <a:buNone/>
                      </a:pPr>
                      <a:r>
                        <a:rPr lang="en-US" sz="1200" dirty="0"/>
                        <a:t>Author name</a:t>
                      </a:r>
                    </a:p>
                  </a:txBody>
                  <a:tcPr/>
                </a:tc>
                <a:tc>
                  <a:txBody>
                    <a:bodyPr/>
                    <a:lstStyle/>
                    <a:p>
                      <a:r>
                        <a:rPr lang="en-US" sz="1200" dirty="0"/>
                        <a:t>Year</a:t>
                      </a:r>
                    </a:p>
                  </a:txBody>
                  <a:tcPr/>
                </a:tc>
                <a:tc>
                  <a:txBody>
                    <a:bodyPr/>
                    <a:lstStyle/>
                    <a:p>
                      <a:r>
                        <a:rPr lang="en-US" sz="1200" dirty="0"/>
                        <a:t>Title</a:t>
                      </a:r>
                    </a:p>
                  </a:txBody>
                  <a:tcPr/>
                </a:tc>
                <a:tc>
                  <a:txBody>
                    <a:bodyPr/>
                    <a:lstStyle/>
                    <a:p>
                      <a:r>
                        <a:rPr lang="en-US" sz="1200" dirty="0"/>
                        <a:t>Algorithms</a:t>
                      </a:r>
                    </a:p>
                  </a:txBody>
                  <a:tcPr/>
                </a:tc>
                <a:tc>
                  <a:txBody>
                    <a:bodyPr/>
                    <a:lstStyle/>
                    <a:p>
                      <a:r>
                        <a:rPr lang="en-US" sz="1200" err="1"/>
                        <a:t>Workdone</a:t>
                      </a:r>
                      <a:endParaRPr lang="en-US" sz="1200"/>
                    </a:p>
                  </a:txBody>
                  <a:tcPr/>
                </a:tc>
                <a:tc>
                  <a:txBody>
                    <a:bodyPr/>
                    <a:lstStyle/>
                    <a:p>
                      <a:r>
                        <a:rPr lang="en-US" sz="1200"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431731149"/>
                  </a:ext>
                </a:extLst>
              </a:tr>
              <a:tr h="1368800">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Zhan et al.</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2019</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Correlation Analysis of Histopathology and </a:t>
                      </a:r>
                      <a:r>
                        <a:rPr lang="en-IN" sz="1200" b="1" kern="100" dirty="0" err="1">
                          <a:effectLst/>
                          <a:latin typeface="Times New Roman" panose="02020603050405020304" pitchFamily="18" charset="0"/>
                          <a:ea typeface="Calibri" panose="020F0502020204030204" pitchFamily="34" charset="0"/>
                          <a:cs typeface="Times New Roman" panose="02020603050405020304" pitchFamily="18" charset="0"/>
                        </a:rPr>
                        <a:t>Proteogenomics</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in Breast Cancer</a:t>
                      </a:r>
                    </a:p>
                  </a:txBody>
                  <a:tcPr marL="114300" marR="114300" marT="76200" marB="76200" anchor="ctr"/>
                </a:tc>
                <a:tc>
                  <a:txBody>
                    <a:bodyPr/>
                    <a:lstStyle/>
                    <a:p>
                      <a:pPr marL="171450" indent="-171450">
                        <a:lnSpc>
                          <a:spcPct val="115000"/>
                        </a:lnSpc>
                        <a:spcAft>
                          <a:spcPts val="800"/>
                        </a:spcAft>
                        <a:buFont typeface="Arial" panose="020B0604020202020204" pitchFamily="34" charset="0"/>
                        <a:buChar char="•"/>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Statistical correlation methods</a:t>
                      </a:r>
                    </a:p>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Image feature extraction</a:t>
                      </a:r>
                    </a:p>
                  </a:txBody>
                  <a:tcPr marL="114300" marR="114300" marT="76200" marB="76200" anchor="ctr"/>
                </a:tc>
                <a:tc>
                  <a:txBody>
                    <a:bodyPr/>
                    <a:lstStyle/>
                    <a:p>
                      <a:pPr>
                        <a:lnSpc>
                          <a:spcPct val="115000"/>
                        </a:lnSpc>
                        <a:spcAft>
                          <a:spcPts val="800"/>
                        </a:spcAft>
                        <a:buNone/>
                      </a:pPr>
                      <a:r>
                        <a:rPr lang="en-IN" sz="1200" b="1" kern="100" dirty="0" err="1">
                          <a:effectLst/>
                          <a:latin typeface="Times New Roman" panose="02020603050405020304" pitchFamily="18" charset="0"/>
                          <a:ea typeface="Calibri" panose="020F0502020204030204" pitchFamily="34" charset="0"/>
                          <a:cs typeface="Times New Roman" panose="02020603050405020304" pitchFamily="18" charset="0"/>
                        </a:rPr>
                        <a:t>Analyzed</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relationships between histopathological image features and molecular/proteogenomic profiles using the TCGA dataset, focusing purely on statistical correlation rather than prediction.</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Established a foundational baseline showing that morphological features in histopathology directly correlate with underlying molecular profiles, validating image-genomic correlation.</a:t>
                      </a:r>
                    </a:p>
                  </a:txBody>
                  <a:tcPr marL="114300" marR="114300" marT="76200" marB="76200" anchor="ctr"/>
                </a:tc>
                <a:extLst>
                  <a:ext uri="{0D108BD9-81ED-4DB2-BD59-A6C34878D82A}">
                    <a16:rowId xmlns:a16="http://schemas.microsoft.com/office/drawing/2014/main" val="2828469501"/>
                  </a:ext>
                </a:extLst>
              </a:tr>
              <a:tr h="1162789">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Chen et al.</a:t>
                      </a:r>
                    </a:p>
                  </a:txBody>
                  <a:tcPr marL="114300" marR="114300" marT="76200" marB="76200" anchor="ctr"/>
                </a:tc>
                <a:tc>
                  <a:txBody>
                    <a:bodyPr/>
                    <a:lstStyle/>
                    <a:p>
                      <a:pPr>
                        <a:lnSpc>
                          <a:spcPct val="115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2021</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Associations Between Histopathological Images and Gene Expression Patterns: A Review</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Review of CNN-based extraction</a:t>
                      </a:r>
                    </a:p>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Image-genomics correlation techniques</a:t>
                      </a:r>
                    </a:p>
                  </a:txBody>
                  <a:tcPr marL="114300" marR="114300" marT="76200" marB="76200" anchor="ctr"/>
                </a:tc>
                <a:tc>
                  <a:txBody>
                    <a:bodyPr/>
                    <a:lstStyle/>
                    <a:p>
                      <a:pPr>
                        <a:lnSpc>
                          <a:spcPct val="115000"/>
                        </a:lnSpc>
                        <a:spcAft>
                          <a:spcPts val="800"/>
                        </a:spcAft>
                        <a:buNone/>
                      </a:pPr>
                      <a:r>
                        <a:rPr lang="en-IN" sz="1200" b="1" kern="100">
                          <a:effectLst/>
                          <a:latin typeface="Times New Roman" panose="02020603050405020304" pitchFamily="18" charset="0"/>
                          <a:ea typeface="Calibri" panose="020F0502020204030204" pitchFamily="34" charset="0"/>
                          <a:cs typeface="Times New Roman" panose="02020603050405020304" pitchFamily="18" charset="0"/>
                        </a:rPr>
                        <a:t>Conducted a comprehensive review of existing methods connecting images to gene expression, evaluating CNN feature extraction and identifying current correlation challenges.</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Highlighted gaps in existing methodologies and justified the need for advanced, structured correlation pipelines instead of isolated predictive models.</a:t>
                      </a:r>
                    </a:p>
                  </a:txBody>
                  <a:tcPr marL="114300" marR="114300" marT="76200" marB="76200" anchor="ctr"/>
                </a:tc>
                <a:extLst>
                  <a:ext uri="{0D108BD9-81ED-4DB2-BD59-A6C34878D82A}">
                    <a16:rowId xmlns:a16="http://schemas.microsoft.com/office/drawing/2014/main" val="1413028735"/>
                  </a:ext>
                </a:extLst>
              </a:tr>
              <a:tr h="1039426">
                <a:tc>
                  <a:txBody>
                    <a:bodyPr/>
                    <a:lstStyle/>
                    <a:p>
                      <a:pPr>
                        <a:lnSpc>
                          <a:spcPct val="115000"/>
                        </a:lnSpc>
                        <a:spcAft>
                          <a:spcPts val="800"/>
                        </a:spcAft>
                        <a:buNone/>
                      </a:pPr>
                      <a:r>
                        <a:rPr lang="en-IN" sz="1200" b="1" kern="100" dirty="0" err="1">
                          <a:effectLst/>
                          <a:latin typeface="Times New Roman" panose="02020603050405020304" pitchFamily="18" charset="0"/>
                          <a:ea typeface="Calibri" panose="020F0502020204030204" pitchFamily="34" charset="0"/>
                          <a:cs typeface="Times New Roman" panose="02020603050405020304" pitchFamily="18" charset="0"/>
                        </a:rPr>
                        <a:t>Thennavan</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et al.</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2021</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Molecular Analysis of TCGA Breast Cancer Histologic Types</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Molecular characterization</a:t>
                      </a:r>
                    </a:p>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Statistical cohort analysis</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Performed deep molecular characterization of breast cancer samples from the TCGA-BRCA dataset to link histology with genomics at a cohort level.</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Validated the TCGA-BRCA dataset as a highly reliable and robust foundation for imaging-genomics studies by proving strong molecular-histological links.</a:t>
                      </a:r>
                    </a:p>
                  </a:txBody>
                  <a:tcPr marL="114300" marR="114300" marT="76200" marB="76200" anchor="ctr"/>
                </a:tc>
                <a:extLst>
                  <a:ext uri="{0D108BD9-81ED-4DB2-BD59-A6C34878D82A}">
                    <a16:rowId xmlns:a16="http://schemas.microsoft.com/office/drawing/2014/main" val="958529639"/>
                  </a:ext>
                </a:extLst>
              </a:tr>
              <a:tr h="956779">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Mondol et al.</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hist2RNA: Predicting Gene Expression from Histopathology Images</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Convolutional Neural Networks (CNN)</a:t>
                      </a:r>
                    </a:p>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 Deep feature embeddings</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Utilized CNN-based embeddings to extract features from histopathology images and related them directly to gene expression data.</a:t>
                      </a:r>
                    </a:p>
                  </a:txBody>
                  <a:tcPr marL="114300" marR="114300" marT="76200" marB="76200" anchor="ctr"/>
                </a:tc>
                <a:tc>
                  <a:txBody>
                    <a:bodyPr/>
                    <a:lstStyle/>
                    <a:p>
                      <a:pP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Demonstrated that deep CNN embeddings successfully capture visual features that are highly relevant to genomics, justifying their use in image-gene association tasks.</a:t>
                      </a:r>
                    </a:p>
                  </a:txBody>
                  <a:tcPr marL="114300" marR="114300" marT="76200" marB="76200" anchor="ctr"/>
                </a:tc>
                <a:extLst>
                  <a:ext uri="{0D108BD9-81ED-4DB2-BD59-A6C34878D82A}">
                    <a16:rowId xmlns:a16="http://schemas.microsoft.com/office/drawing/2014/main" val="3147305655"/>
                  </a:ext>
                </a:extLst>
              </a:tr>
              <a:tr h="813759">
                <a:tc>
                  <a:txBody>
                    <a:bodyPr/>
                    <a:lstStyle/>
                    <a:p>
                      <a:pPr marL="0" algn="l" defTabSz="914400" rtl="0" eaLnBrk="1" latinLnBrk="0" hangingPunct="1">
                        <a:lnSpc>
                          <a:spcPct val="115000"/>
                        </a:lnSpc>
                        <a:spcAft>
                          <a:spcPts val="800"/>
                        </a:spcAft>
                        <a:buNone/>
                      </a:pPr>
                      <a:r>
                        <a:rPr lang="en-IN"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Ash, Jordan T., et al.</a:t>
                      </a:r>
                    </a:p>
                  </a:txBody>
                  <a:tcPr anchor="ctr"/>
                </a:tc>
                <a:tc>
                  <a:txBody>
                    <a:bodyPr/>
                    <a:lstStyle/>
                    <a:p>
                      <a:pPr marL="0" algn="l" defTabSz="914400" rtl="0" eaLnBrk="1" latinLnBrk="0" hangingPunct="1">
                        <a:lnSpc>
                          <a:spcPct val="115000"/>
                        </a:lnSpc>
                        <a:spcAft>
                          <a:spcPts val="800"/>
                        </a:spcAft>
                        <a:buNone/>
                      </a:pPr>
                      <a:r>
                        <a:rPr lang="en-IN"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2021</a:t>
                      </a:r>
                    </a:p>
                  </a:txBody>
                  <a:tcPr anchor="ctr"/>
                </a:tc>
                <a:tc>
                  <a:txBody>
                    <a:bodyPr/>
                    <a:lstStyle/>
                    <a:p>
                      <a:pPr marL="0" algn="l" defTabSz="914400" rtl="0" eaLnBrk="1" latinLnBrk="0" hangingPunct="1">
                        <a:lnSpc>
                          <a:spcPct val="115000"/>
                        </a:lnSpc>
                        <a:spcAft>
                          <a:spcPts val="800"/>
                        </a:spcAft>
                        <a:buNone/>
                      </a:pPr>
                      <a:r>
                        <a:rPr lang="en-US"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Joint analysis of expression levels and histological images identifies genes associated with tissue morphology.</a:t>
                      </a:r>
                    </a:p>
                  </a:txBody>
                  <a:tcPr anchor="ctr"/>
                </a:tc>
                <a:tc>
                  <a:txBody>
                    <a:bodyPr/>
                    <a:lstStyle/>
                    <a:p>
                      <a:pPr marL="171450" indent="-171450" algn="l" defTabSz="914400" rtl="0" eaLnBrk="1" latinLnBrk="0" hangingPunct="1">
                        <a:lnSpc>
                          <a:spcPct val="115000"/>
                        </a:lnSpc>
                        <a:spcAft>
                          <a:spcPts val="800"/>
                        </a:spcAft>
                        <a:buFont typeface="Arial" panose="020B0604020202020204" pitchFamily="34" charset="0"/>
                        <a:buChar char="•"/>
                      </a:pPr>
                      <a:r>
                        <a:rPr lang="en-US"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Deep Learning (CNNs)</a:t>
                      </a:r>
                    </a:p>
                    <a:p>
                      <a:pPr marL="171450" indent="-171450" algn="l" defTabSz="914400" rtl="0" eaLnBrk="1" latinLnBrk="0" hangingPunct="1">
                        <a:lnSpc>
                          <a:spcPct val="115000"/>
                        </a:lnSpc>
                        <a:spcAft>
                          <a:spcPts val="800"/>
                        </a:spcAft>
                        <a:buFont typeface="Arial" panose="020B0604020202020204" pitchFamily="34" charset="0"/>
                        <a:buChar char="•"/>
                      </a:pPr>
                      <a:r>
                        <a:rPr lang="en-US"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 Canonical Correlation Analysis (CCA).</a:t>
                      </a:r>
                    </a:p>
                  </a:txBody>
                  <a:tcPr anchor="ctr"/>
                </a:tc>
                <a:tc>
                  <a:txBody>
                    <a:bodyPr/>
                    <a:lstStyle/>
                    <a:p>
                      <a:pPr marL="0" algn="l" defTabSz="914400" rtl="0" eaLnBrk="1" latinLnBrk="0" hangingPunct="1">
                        <a:lnSpc>
                          <a:spcPct val="115000"/>
                        </a:lnSpc>
                        <a:spcAft>
                          <a:spcPts val="800"/>
                        </a:spcAft>
                        <a:buNone/>
                      </a:pPr>
                      <a:r>
                        <a:rPr lang="en-US"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Developed a method to link whole-transcriptome data with H&amp;E-stained histological images to identify "morphology-associated genes" (MAGs).</a:t>
                      </a:r>
                    </a:p>
                  </a:txBody>
                  <a:tcPr anchor="ctr"/>
                </a:tc>
                <a:tc>
                  <a:txBody>
                    <a:bodyPr/>
                    <a:lstStyle/>
                    <a:p>
                      <a:pPr marL="0" algn="l" defTabSz="914400" rtl="0" eaLnBrk="1" latinLnBrk="0" hangingPunct="1">
                        <a:lnSpc>
                          <a:spcPct val="115000"/>
                        </a:lnSpc>
                        <a:spcAft>
                          <a:spcPts val="800"/>
                        </a:spcAft>
                        <a:buNone/>
                      </a:pPr>
                      <a:r>
                        <a:rPr lang="en-US" sz="1200" b="1" kern="100" dirty="0">
                          <a:solidFill>
                            <a:schemeClr val="dk1"/>
                          </a:solidFill>
                          <a:effectLst/>
                          <a:latin typeface="Times New Roman" panose="02020603050405020304" pitchFamily="18" charset="0"/>
                          <a:ea typeface="Calibri" panose="020F0502020204030204" pitchFamily="34" charset="0"/>
                          <a:cs typeface="Times New Roman" panose="02020603050405020304" pitchFamily="18" charset="0"/>
                        </a:rPr>
                        <a:t>Successfully identified genes that drive tissue structure, providing a bridge between molecular biology and pathological anatomy.</a:t>
                      </a:r>
                    </a:p>
                  </a:txBody>
                  <a:tcPr anchor="ctr"/>
                </a:tc>
                <a:extLst>
                  <a:ext uri="{0D108BD9-81ED-4DB2-BD59-A6C34878D82A}">
                    <a16:rowId xmlns:a16="http://schemas.microsoft.com/office/drawing/2014/main" val="837759209"/>
                  </a:ext>
                </a:extLst>
              </a:tr>
            </a:tbl>
          </a:graphicData>
        </a:graphic>
      </p:graphicFrame>
      <p:sp>
        <p:nvSpPr>
          <p:cNvPr id="4" name="TextBox 3">
            <a:extLst>
              <a:ext uri="{FF2B5EF4-FFF2-40B4-BE49-F238E27FC236}">
                <a16:creationId xmlns:a16="http://schemas.microsoft.com/office/drawing/2014/main" id="{7CAEB503-4507-C36A-119F-BFADCD9DA7DB}"/>
              </a:ext>
            </a:extLst>
          </p:cNvPr>
          <p:cNvSpPr txBox="1"/>
          <p:nvPr/>
        </p:nvSpPr>
        <p:spPr>
          <a:xfrm>
            <a:off x="0" y="1481"/>
            <a:ext cx="10991654" cy="769441"/>
          </a:xfrm>
          <a:prstGeom prst="rect">
            <a:avLst/>
          </a:prstGeom>
          <a:noFill/>
        </p:spPr>
        <p:txBody>
          <a:bodyPr wrap="square" rtlCol="0">
            <a:spAutoFit/>
          </a:bodyPr>
          <a:lstStyle/>
          <a:p>
            <a:r>
              <a:rPr lang="en-US" sz="4400" b="1" dirty="0">
                <a:latin typeface="Times New Roman" pitchFamily="18" charset="0"/>
                <a:cs typeface="Times New Roman" pitchFamily="18" charset="0"/>
              </a:rPr>
              <a:t>Literature review</a:t>
            </a:r>
            <a:endParaRPr lang="en-IN" sz="4400" b="1" dirty="0"/>
          </a:p>
        </p:txBody>
      </p:sp>
    </p:spTree>
    <p:extLst>
      <p:ext uri="{BB962C8B-B14F-4D97-AF65-F5344CB8AC3E}">
        <p14:creationId xmlns:p14="http://schemas.microsoft.com/office/powerpoint/2010/main" val="945238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F074-FD61-405B-B11A-42445B243067}"/>
              </a:ext>
            </a:extLst>
          </p:cNvPr>
          <p:cNvSpPr>
            <a:spLocks noGrp="1"/>
          </p:cNvSpPr>
          <p:nvPr>
            <p:ph type="title"/>
          </p:nvPr>
        </p:nvSpPr>
        <p:spPr>
          <a:xfrm>
            <a:off x="495300" y="301764"/>
            <a:ext cx="10515600" cy="682625"/>
          </a:xfrm>
        </p:spPr>
        <p:txBody>
          <a:bodyPr>
            <a:noAutofit/>
          </a:bodyPr>
          <a:lstStyle/>
          <a:p>
            <a:r>
              <a:rPr lang="en-US" b="1" dirty="0">
                <a:latin typeface="Times New Roman" panose="02020603050405020304" pitchFamily="18" charset="0"/>
                <a:cs typeface="Times New Roman" panose="02020603050405020304" pitchFamily="18" charset="0"/>
              </a:rPr>
              <a:t>Literature Summary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A63434-6C57-448F-A7E6-F2711952CE55}"/>
              </a:ext>
            </a:extLst>
          </p:cNvPr>
          <p:cNvSpPr>
            <a:spLocks noGrp="1"/>
          </p:cNvSpPr>
          <p:nvPr>
            <p:ph idx="1"/>
          </p:nvPr>
        </p:nvSpPr>
        <p:spPr>
          <a:xfrm>
            <a:off x="495300" y="1232867"/>
            <a:ext cx="11087100" cy="5505863"/>
          </a:xfrm>
        </p:spPr>
        <p:txBody>
          <a:bodyPr>
            <a:no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The literature reviewed in the provided table highlights recent advancements in breast cancer research using correlation-aware multimodal analysis of histopathological imaging and genomic profiles. Studies from 2018 to 2024 showcase the effectiveness of statistical correlation methods, Convolutional Neural Networks (CNNs), and joint embedding architectures for associating visual tissue phenotypes with molecular expressions. Key findings demonstrate that correlation-based multimodal frameworks effectively bridge the dimensional gap between imaging and omics data across established datasets (e.g., TCGA-BRCA), delivering a more robust and holistic understanding of tumor biology than isolated predictive models. Notable innovations include deep molecular cohort characterizations, CNN-based spatial feature embeddings for capturing genomics-relevant visual data, and Canonical Correlation Analysis (CCA) pipelines to map high-dimensional multimodal data into shared latent spaces. The most advanced systems establish highly reliable macroscopic-to-microscopic associations, validating the critical need for structured correlation pipelines to achieve precise, integrated diagnostics in oncology.</a:t>
            </a:r>
          </a:p>
        </p:txBody>
      </p:sp>
    </p:spTree>
    <p:extLst>
      <p:ext uri="{BB962C8B-B14F-4D97-AF65-F5344CB8AC3E}">
        <p14:creationId xmlns:p14="http://schemas.microsoft.com/office/powerpoint/2010/main" val="220705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8C959-AD9B-4B95-8B3E-7D3ADD6A9529}"/>
              </a:ext>
            </a:extLst>
          </p:cNvPr>
          <p:cNvSpPr>
            <a:spLocks noGrp="1"/>
          </p:cNvSpPr>
          <p:nvPr>
            <p:ph type="title"/>
          </p:nvPr>
        </p:nvSpPr>
        <p:spPr>
          <a:xfrm>
            <a:off x="705678" y="19878"/>
            <a:ext cx="10515600" cy="1206291"/>
          </a:xfrm>
        </p:spPr>
        <p:txBody>
          <a:bodyPr/>
          <a:lstStyle/>
          <a:p>
            <a:r>
              <a:rPr lang="en-IN" b="1" dirty="0">
                <a:latin typeface="Times New Roman" panose="02020603050405020304" pitchFamily="18" charset="0"/>
                <a:cs typeface="Times New Roman" panose="02020603050405020304" pitchFamily="18" charset="0"/>
              </a:rPr>
              <a:t>Datasets and Requirements</a:t>
            </a:r>
          </a:p>
        </p:txBody>
      </p:sp>
      <p:sp>
        <p:nvSpPr>
          <p:cNvPr id="3" name="Content Placeholder 2">
            <a:extLst>
              <a:ext uri="{FF2B5EF4-FFF2-40B4-BE49-F238E27FC236}">
                <a16:creationId xmlns:a16="http://schemas.microsoft.com/office/drawing/2014/main" id="{E3973089-AAB3-46AC-88AB-73BBDB39236C}"/>
              </a:ext>
            </a:extLst>
          </p:cNvPr>
          <p:cNvSpPr>
            <a:spLocks noGrp="1"/>
          </p:cNvSpPr>
          <p:nvPr>
            <p:ph sz="half" idx="1"/>
          </p:nvPr>
        </p:nvSpPr>
        <p:spPr>
          <a:xfrm>
            <a:off x="1053548" y="1440482"/>
            <a:ext cx="5516217" cy="5305633"/>
          </a:xfrm>
        </p:spPr>
        <p:txBody>
          <a:bodyPr>
            <a:noAutofit/>
          </a:bodyPr>
          <a:lstStyle/>
          <a:p>
            <a:pPr marL="0" indent="0">
              <a:buNone/>
            </a:pPr>
            <a:r>
              <a:rPr lang="en-IN" sz="2400" b="1" u="sng" dirty="0">
                <a:latin typeface="Times New Roman" panose="02020603050405020304" pitchFamily="18" charset="0"/>
                <a:cs typeface="Times New Roman" panose="02020603050405020304" pitchFamily="18" charset="0"/>
              </a:rPr>
              <a:t>Datasets</a:t>
            </a:r>
          </a:p>
          <a:p>
            <a:pPr marL="0" indent="0" algn="just">
              <a:buNone/>
            </a:pPr>
            <a:r>
              <a:rPr lang="en-US" sz="1900" b="1" dirty="0">
                <a:latin typeface="Times New Roman" panose="02020603050405020304" pitchFamily="18" charset="0"/>
                <a:cs typeface="Times New Roman" panose="02020603050405020304" pitchFamily="18" charset="0"/>
              </a:rPr>
              <a:t>1. Histopathological Imaging Dataset</a:t>
            </a:r>
          </a:p>
          <a:p>
            <a:pPr algn="just"/>
            <a:r>
              <a:rPr lang="en-US" sz="1900" b="1" dirty="0">
                <a:latin typeface="Times New Roman" panose="02020603050405020304" pitchFamily="18" charset="0"/>
                <a:cs typeface="Times New Roman" panose="02020603050405020304" pitchFamily="18" charset="0"/>
              </a:rPr>
              <a:t>Source:</a:t>
            </a:r>
            <a:r>
              <a:rPr lang="en-US" sz="1900" dirty="0">
                <a:latin typeface="Times New Roman" panose="02020603050405020304" pitchFamily="18" charset="0"/>
                <a:cs typeface="Times New Roman" panose="02020603050405020304" pitchFamily="18" charset="0"/>
              </a:rPr>
              <a:t> A digital pathology dataset </a:t>
            </a:r>
          </a:p>
          <a:p>
            <a:pPr algn="just"/>
            <a:r>
              <a:rPr lang="en-US" sz="1900" b="1" dirty="0">
                <a:latin typeface="Times New Roman" panose="02020603050405020304" pitchFamily="18" charset="0"/>
                <a:cs typeface="Times New Roman" panose="02020603050405020304" pitchFamily="18" charset="0"/>
              </a:rPr>
              <a:t>Data Type:</a:t>
            </a:r>
            <a:r>
              <a:rPr lang="en-US" sz="1900" dirty="0">
                <a:latin typeface="Times New Roman" panose="02020603050405020304" pitchFamily="18" charset="0"/>
                <a:cs typeface="Times New Roman" panose="02020603050405020304" pitchFamily="18" charset="0"/>
              </a:rPr>
              <a:t> Microscopic tissue morphology images.</a:t>
            </a:r>
          </a:p>
          <a:p>
            <a:pPr algn="just"/>
            <a:r>
              <a:rPr lang="en-US" sz="1900" b="1" dirty="0">
                <a:latin typeface="Times New Roman" panose="02020603050405020304" pitchFamily="18" charset="0"/>
                <a:cs typeface="Times New Roman" panose="02020603050405020304" pitchFamily="18" charset="0"/>
              </a:rPr>
              <a:t>Format:</a:t>
            </a:r>
            <a:r>
              <a:rPr lang="en-US" sz="1900" dirty="0">
                <a:latin typeface="Times New Roman" panose="02020603050405020304" pitchFamily="18" charset="0"/>
                <a:cs typeface="Times New Roman" panose="02020603050405020304" pitchFamily="18" charset="0"/>
              </a:rPr>
              <a:t> Thousands of image patches (small segments of whole-slide images).</a:t>
            </a:r>
          </a:p>
          <a:p>
            <a:pPr algn="just"/>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To capture the physical and structural characteristics of breast tissue at a microscopic level.</a:t>
            </a:r>
          </a:p>
          <a:p>
            <a:pPr marL="0" indent="0" algn="just">
              <a:buNone/>
            </a:pPr>
            <a:r>
              <a:rPr lang="en-US" sz="1900" b="1" dirty="0">
                <a:latin typeface="Times New Roman" panose="02020603050405020304" pitchFamily="18" charset="0"/>
                <a:cs typeface="Times New Roman" panose="02020603050405020304" pitchFamily="18" charset="0"/>
              </a:rPr>
              <a:t>2. Genomic Expression Dataset</a:t>
            </a:r>
          </a:p>
          <a:p>
            <a:pPr algn="just"/>
            <a:r>
              <a:rPr lang="en-US" sz="1900" b="1" dirty="0">
                <a:latin typeface="Times New Roman" panose="02020603050405020304" pitchFamily="18" charset="0"/>
                <a:cs typeface="Times New Roman" panose="02020603050405020304" pitchFamily="18" charset="0"/>
              </a:rPr>
              <a:t>Source:</a:t>
            </a:r>
            <a:r>
              <a:rPr lang="en-US" sz="1900" dirty="0">
                <a:latin typeface="Times New Roman" panose="02020603050405020304" pitchFamily="18" charset="0"/>
                <a:cs typeface="Times New Roman" panose="02020603050405020304" pitchFamily="18" charset="0"/>
              </a:rPr>
              <a:t> The </a:t>
            </a:r>
            <a:r>
              <a:rPr lang="en-US" sz="1900" b="1" dirty="0">
                <a:latin typeface="Times New Roman" panose="02020603050405020304" pitchFamily="18" charset="0"/>
                <a:cs typeface="Times New Roman" panose="02020603050405020304" pitchFamily="18" charset="0"/>
              </a:rPr>
              <a:t>TCGA-BRCA</a:t>
            </a:r>
            <a:r>
              <a:rPr lang="en-US" sz="1900" dirty="0">
                <a:latin typeface="Times New Roman" panose="02020603050405020304" pitchFamily="18" charset="0"/>
                <a:cs typeface="Times New Roman" panose="02020603050405020304" pitchFamily="18" charset="0"/>
              </a:rPr>
              <a:t> (The Cancer Genome Atlas Breast Invasive Carcinoma) dataset.</a:t>
            </a:r>
          </a:p>
          <a:p>
            <a:pPr algn="just"/>
            <a:r>
              <a:rPr lang="en-US" sz="1900" b="1" dirty="0">
                <a:latin typeface="Times New Roman" panose="02020603050405020304" pitchFamily="18" charset="0"/>
                <a:cs typeface="Times New Roman" panose="02020603050405020304" pitchFamily="18" charset="0"/>
              </a:rPr>
              <a:t>Data Type:</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RNA-Seq</a:t>
            </a:r>
            <a:r>
              <a:rPr lang="en-US" sz="1900" dirty="0">
                <a:latin typeface="Times New Roman" panose="02020603050405020304" pitchFamily="18" charset="0"/>
                <a:cs typeface="Times New Roman" panose="02020603050405020304" pitchFamily="18" charset="0"/>
              </a:rPr>
              <a:t> gene expression profiles.</a:t>
            </a:r>
          </a:p>
          <a:p>
            <a:pPr algn="just"/>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To provide molecular-level insights into genetic activity and biological signaling associated with the disease.</a:t>
            </a:r>
          </a:p>
          <a:p>
            <a:pPr marL="0" indent="0">
              <a:buNone/>
            </a:pPr>
            <a:endParaRPr lang="en-IN" sz="2000" b="1"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B016201-15DD-40A9-9E35-65B7C540A2FD}"/>
              </a:ext>
            </a:extLst>
          </p:cNvPr>
          <p:cNvSpPr>
            <a:spLocks noGrp="1"/>
          </p:cNvSpPr>
          <p:nvPr>
            <p:ph sz="half" idx="2"/>
          </p:nvPr>
        </p:nvSpPr>
        <p:spPr>
          <a:xfrm>
            <a:off x="6907695" y="1450767"/>
            <a:ext cx="5078895" cy="5061157"/>
          </a:xfrm>
        </p:spPr>
        <p:txBody>
          <a:bodyPr>
            <a:noAutofit/>
          </a:bodyPr>
          <a:lstStyle/>
          <a:p>
            <a:pPr marL="0" indent="0">
              <a:buNone/>
            </a:pPr>
            <a:r>
              <a:rPr lang="en-IN" sz="2400" b="1" u="sng" dirty="0">
                <a:latin typeface="Times New Roman" panose="02020603050405020304" pitchFamily="18" charset="0"/>
                <a:cs typeface="Times New Roman" panose="02020603050405020304" pitchFamily="18" charset="0"/>
              </a:rPr>
              <a:t>Requirements</a:t>
            </a:r>
          </a:p>
          <a:p>
            <a:r>
              <a:rPr lang="en-IN" sz="1900" b="1" dirty="0">
                <a:latin typeface="Times New Roman" panose="02020603050405020304" pitchFamily="18" charset="0"/>
                <a:cs typeface="Times New Roman" panose="02020603050405020304" pitchFamily="18" charset="0"/>
              </a:rPr>
              <a:t>Programming Languages &amp; Tools: </a:t>
            </a:r>
            <a:r>
              <a:rPr lang="en-IN" sz="1900" dirty="0">
                <a:latin typeface="Times New Roman" panose="02020603050405020304" pitchFamily="18" charset="0"/>
                <a:cs typeface="Times New Roman" panose="02020603050405020304" pitchFamily="18" charset="0"/>
              </a:rPr>
              <a:t> Python, Pandas, NumPy, Scikit-learn.</a:t>
            </a:r>
          </a:p>
          <a:p>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Libraries:</a:t>
            </a:r>
            <a:r>
              <a:rPr lang="en-IN" sz="1900" dirty="0">
                <a:latin typeface="Times New Roman" panose="02020603050405020304" pitchFamily="18" charset="0"/>
                <a:cs typeface="Times New Roman" panose="02020603050405020304" pitchFamily="18" charset="0"/>
              </a:rPr>
              <a:t> NumPy, Pandas, OpenCV / PIL, TensorFlow or </a:t>
            </a:r>
            <a:r>
              <a:rPr lang="en-IN" sz="1900" dirty="0" err="1">
                <a:latin typeface="Times New Roman" panose="02020603050405020304" pitchFamily="18" charset="0"/>
                <a:cs typeface="Times New Roman" panose="02020603050405020304" pitchFamily="18" charset="0"/>
              </a:rPr>
              <a:t>PyTorch</a:t>
            </a:r>
            <a:r>
              <a:rPr lang="en-IN" sz="1900" dirty="0">
                <a:latin typeface="Times New Roman" panose="02020603050405020304" pitchFamily="18" charset="0"/>
                <a:cs typeface="Times New Roman" panose="02020603050405020304" pitchFamily="18" charset="0"/>
              </a:rPr>
              <a:t>, Scikit-learn, Matplotlib / Seaborn, </a:t>
            </a:r>
            <a:r>
              <a:rPr lang="en-IN" sz="1900" dirty="0" err="1">
                <a:latin typeface="Times New Roman" panose="02020603050405020304" pitchFamily="18" charset="0"/>
                <a:cs typeface="Times New Roman" panose="02020603050405020304" pitchFamily="18" charset="0"/>
              </a:rPr>
              <a:t>Streamlit</a:t>
            </a:r>
            <a:endParaRPr lang="en-IN" sz="1900" dirty="0">
              <a:latin typeface="Times New Roman" panose="02020603050405020304" pitchFamily="18" charset="0"/>
              <a:cs typeface="Times New Roman" panose="02020603050405020304" pitchFamily="18" charset="0"/>
            </a:endParaRPr>
          </a:p>
          <a:p>
            <a:r>
              <a:rPr lang="en-IN" sz="1900" b="1" dirty="0">
                <a:latin typeface="Times New Roman" panose="02020603050405020304" pitchFamily="18" charset="0"/>
                <a:cs typeface="Times New Roman" panose="02020603050405020304" pitchFamily="18" charset="0"/>
              </a:rPr>
              <a:t>Preprocessing Steps: </a:t>
            </a:r>
            <a:r>
              <a:rPr lang="en-US" sz="1900" dirty="0">
                <a:latin typeface="Times New Roman" panose="02020603050405020304" pitchFamily="18" charset="0"/>
                <a:cs typeface="Times New Roman" panose="02020603050405020304" pitchFamily="18" charset="0"/>
              </a:rPr>
              <a:t> Image resizing, normalization, feature extraction, patient-level alignment, and visualization tools</a:t>
            </a:r>
          </a:p>
          <a:p>
            <a:r>
              <a:rPr lang="en-US"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Computational Resources: </a:t>
            </a:r>
            <a:r>
              <a:rPr lang="en-US" sz="1900" dirty="0">
                <a:latin typeface="Times New Roman" panose="02020603050405020304" pitchFamily="18" charset="0"/>
                <a:cs typeface="Times New Roman" panose="02020603050405020304" pitchFamily="18" charset="0"/>
              </a:rPr>
              <a:t> Intel i5 or higher processor, minimum 8 GB RAM, NVIDIA GPU (recommended), 20 GB storage, Windows or Linux operating system</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56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81CA-656F-462F-3B20-EE5C827D48DE}"/>
              </a:ext>
            </a:extLst>
          </p:cNvPr>
          <p:cNvSpPr>
            <a:spLocks noGrp="1"/>
          </p:cNvSpPr>
          <p:nvPr>
            <p:ph type="title"/>
          </p:nvPr>
        </p:nvSpPr>
        <p:spPr>
          <a:xfrm>
            <a:off x="838200" y="361950"/>
            <a:ext cx="10515600" cy="701675"/>
          </a:xfrm>
        </p:spPr>
        <p:txBody>
          <a:bodyPr>
            <a:normAutofit/>
          </a:bodyPr>
          <a:lstStyle/>
          <a:p>
            <a:r>
              <a:rPr lang="en-IN" sz="3600" b="1" dirty="0">
                <a:latin typeface="Times New Roman" panose="02020603050405020304" pitchFamily="18" charset="0"/>
                <a:cs typeface="Times New Roman" panose="02020603050405020304" pitchFamily="18" charset="0"/>
              </a:rPr>
              <a:t>Algorithms - CNN</a:t>
            </a:r>
            <a:endParaRPr lang="en-IN" sz="3600" dirty="0"/>
          </a:p>
        </p:txBody>
      </p:sp>
      <p:sp>
        <p:nvSpPr>
          <p:cNvPr id="3" name="Content Placeholder 2">
            <a:extLst>
              <a:ext uri="{FF2B5EF4-FFF2-40B4-BE49-F238E27FC236}">
                <a16:creationId xmlns:a16="http://schemas.microsoft.com/office/drawing/2014/main" id="{DC41A9D4-DDA2-8343-12FB-DBE283169FEB}"/>
              </a:ext>
            </a:extLst>
          </p:cNvPr>
          <p:cNvSpPr>
            <a:spLocks noGrp="1"/>
          </p:cNvSpPr>
          <p:nvPr>
            <p:ph idx="1"/>
          </p:nvPr>
        </p:nvSpPr>
        <p:spPr>
          <a:xfrm>
            <a:off x="838200" y="1219199"/>
            <a:ext cx="6181726" cy="5276851"/>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Input: X[C][H][W], K, B</a:t>
            </a:r>
          </a:p>
          <a:p>
            <a:pPr marL="0" indent="0">
              <a:buNone/>
            </a:pPr>
            <a:r>
              <a:rPr lang="en-IN" sz="1800" dirty="0">
                <a:latin typeface="Times New Roman" panose="02020603050405020304" pitchFamily="18" charset="0"/>
                <a:cs typeface="Times New Roman" panose="02020603050405020304" pitchFamily="18" charset="0"/>
              </a:rPr>
              <a:t>Output: F</a:t>
            </a:r>
          </a:p>
          <a:p>
            <a:pPr marL="0" indent="0">
              <a:buNone/>
            </a:pPr>
            <a:r>
              <a:rPr lang="en-IN" sz="1800" dirty="0">
                <a:latin typeface="Times New Roman" panose="02020603050405020304" pitchFamily="18" charset="0"/>
                <a:cs typeface="Times New Roman" panose="02020603050405020304" pitchFamily="18" charset="0"/>
              </a:rPr>
              <a:t>For each convolution layer L do</a:t>
            </a:r>
          </a:p>
          <a:p>
            <a:pPr marL="0" indent="0">
              <a:buNone/>
            </a:pPr>
            <a:r>
              <a:rPr lang="en-IN" sz="1800" dirty="0">
                <a:latin typeface="Times New Roman" panose="02020603050405020304" pitchFamily="18" charset="0"/>
                <a:cs typeface="Times New Roman" panose="02020603050405020304" pitchFamily="18" charset="0"/>
              </a:rPr>
              <a:t>    For co = 1 to </a:t>
            </a:r>
            <a:r>
              <a:rPr lang="en-IN" sz="1800" dirty="0" err="1">
                <a:latin typeface="Times New Roman" panose="02020603050405020304" pitchFamily="18" charset="0"/>
                <a:cs typeface="Times New Roman" panose="02020603050405020304" pitchFamily="18" charset="0"/>
              </a:rPr>
              <a:t>Cout</a:t>
            </a:r>
            <a:r>
              <a:rPr lang="en-IN" sz="1800" dirty="0">
                <a:latin typeface="Times New Roman" panose="02020603050405020304" pitchFamily="18" charset="0"/>
                <a:cs typeface="Times New Roman" panose="02020603050405020304" pitchFamily="18" charset="0"/>
              </a:rPr>
              <a:t> do</a:t>
            </a:r>
          </a:p>
          <a:p>
            <a:pPr marL="0" indent="0">
              <a:buNone/>
            </a:pPr>
            <a:r>
              <a:rPr lang="en-IN" sz="1800" dirty="0">
                <a:latin typeface="Times New Roman" panose="02020603050405020304" pitchFamily="18" charset="0"/>
                <a:cs typeface="Times New Roman" panose="02020603050405020304" pitchFamily="18" charset="0"/>
              </a:rPr>
              <a:t>        For h = 1 to </a:t>
            </a:r>
            <a:r>
              <a:rPr lang="en-IN" sz="1800" dirty="0" err="1">
                <a:latin typeface="Times New Roman" panose="02020603050405020304" pitchFamily="18" charset="0"/>
                <a:cs typeface="Times New Roman" panose="02020603050405020304" pitchFamily="18" charset="0"/>
              </a:rPr>
              <a:t>Hout</a:t>
            </a:r>
            <a:r>
              <a:rPr lang="en-IN" sz="1800" dirty="0">
                <a:latin typeface="Times New Roman" panose="02020603050405020304" pitchFamily="18" charset="0"/>
                <a:cs typeface="Times New Roman" panose="02020603050405020304" pitchFamily="18" charset="0"/>
              </a:rPr>
              <a:t> do</a:t>
            </a:r>
          </a:p>
          <a:p>
            <a:pPr marL="0" indent="0">
              <a:buNone/>
            </a:pPr>
            <a:r>
              <a:rPr lang="en-IN" sz="1800" dirty="0">
                <a:latin typeface="Times New Roman" panose="02020603050405020304" pitchFamily="18" charset="0"/>
                <a:cs typeface="Times New Roman" panose="02020603050405020304" pitchFamily="18" charset="0"/>
              </a:rPr>
              <a:t>            For w = 1 to </a:t>
            </a:r>
            <a:r>
              <a:rPr lang="en-IN" sz="1800" dirty="0" err="1">
                <a:latin typeface="Times New Roman" panose="02020603050405020304" pitchFamily="18" charset="0"/>
                <a:cs typeface="Times New Roman" panose="02020603050405020304" pitchFamily="18" charset="0"/>
              </a:rPr>
              <a:t>Wout</a:t>
            </a:r>
            <a:r>
              <a:rPr lang="en-IN" sz="1800" dirty="0">
                <a:latin typeface="Times New Roman" panose="02020603050405020304" pitchFamily="18" charset="0"/>
                <a:cs typeface="Times New Roman" panose="02020603050405020304" pitchFamily="18" charset="0"/>
              </a:rPr>
              <a:t> do</a:t>
            </a:r>
          </a:p>
          <a:p>
            <a:pPr marL="0" indent="0">
              <a:buNone/>
            </a:pPr>
            <a:r>
              <a:rPr lang="en-IN" sz="1800" dirty="0">
                <a:latin typeface="Times New Roman" panose="02020603050405020304" pitchFamily="18" charset="0"/>
                <a:cs typeface="Times New Roman" panose="02020603050405020304" pitchFamily="18" charset="0"/>
              </a:rPr>
              <a:t>                sum = 0</a:t>
            </a:r>
          </a:p>
          <a:p>
            <a:pPr marL="0" indent="0">
              <a:buNone/>
            </a:pPr>
            <a:r>
              <a:rPr lang="en-IN" sz="1800" dirty="0">
                <a:latin typeface="Times New Roman" panose="02020603050405020304" pitchFamily="18" charset="0"/>
                <a:cs typeface="Times New Roman" panose="02020603050405020304" pitchFamily="18" charset="0"/>
              </a:rPr>
              <a:t>                For ci = 1 to </a:t>
            </a:r>
            <a:r>
              <a:rPr lang="en-IN" sz="1800" dirty="0" err="1">
                <a:latin typeface="Times New Roman" panose="02020603050405020304" pitchFamily="18" charset="0"/>
                <a:cs typeface="Times New Roman" panose="02020603050405020304" pitchFamily="18" charset="0"/>
              </a:rPr>
              <a:t>Cin</a:t>
            </a:r>
            <a:r>
              <a:rPr lang="en-IN" sz="1800" dirty="0">
                <a:latin typeface="Times New Roman" panose="02020603050405020304" pitchFamily="18" charset="0"/>
                <a:cs typeface="Times New Roman" panose="02020603050405020304" pitchFamily="18" charset="0"/>
              </a:rPr>
              <a:t> do</a:t>
            </a:r>
          </a:p>
          <a:p>
            <a:pPr marL="0" indent="0">
              <a:buNone/>
            </a:pPr>
            <a:r>
              <a:rPr lang="en-IN" sz="1800" dirty="0">
                <a:latin typeface="Times New Roman" panose="02020603050405020304" pitchFamily="18" charset="0"/>
                <a:cs typeface="Times New Roman" panose="02020603050405020304" pitchFamily="18" charset="0"/>
              </a:rPr>
              <a:t>                    For </a:t>
            </a: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 = 1 to </a:t>
            </a:r>
            <a:r>
              <a:rPr lang="en-IN" sz="1800" dirty="0" err="1">
                <a:latin typeface="Times New Roman" panose="02020603050405020304" pitchFamily="18" charset="0"/>
                <a:cs typeface="Times New Roman" panose="02020603050405020304" pitchFamily="18" charset="0"/>
              </a:rPr>
              <a:t>Kh</a:t>
            </a:r>
            <a:r>
              <a:rPr lang="en-IN" sz="1800" dirty="0">
                <a:latin typeface="Times New Roman" panose="02020603050405020304" pitchFamily="18" charset="0"/>
                <a:cs typeface="Times New Roman" panose="02020603050405020304" pitchFamily="18" charset="0"/>
              </a:rPr>
              <a:t> do</a:t>
            </a:r>
          </a:p>
          <a:p>
            <a:pPr marL="0" indent="0">
              <a:buNone/>
            </a:pPr>
            <a:r>
              <a:rPr lang="en-IN" sz="1800" dirty="0">
                <a:latin typeface="Times New Roman" panose="02020603050405020304" pitchFamily="18" charset="0"/>
                <a:cs typeface="Times New Roman" panose="02020603050405020304" pitchFamily="18" charset="0"/>
              </a:rPr>
              <a:t>                        For j = 1 to Kw do</a:t>
            </a:r>
          </a:p>
          <a:p>
            <a:pPr marL="0" indent="0">
              <a:buNone/>
            </a:pPr>
            <a:r>
              <a:rPr lang="en-IN" sz="1800" dirty="0">
                <a:latin typeface="Times New Roman" panose="02020603050405020304" pitchFamily="18" charset="0"/>
                <a:cs typeface="Times New Roman" panose="02020603050405020304" pitchFamily="18" charset="0"/>
              </a:rPr>
              <a:t>                            sum = sum + K[co][ci][</a:t>
            </a:r>
            <a:r>
              <a:rPr lang="en-IN" sz="1800" dirty="0" err="1">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][j] * X[ci][</a:t>
            </a:r>
            <a:r>
              <a:rPr lang="en-IN" sz="1800" dirty="0" err="1">
                <a:latin typeface="Times New Roman" panose="02020603050405020304" pitchFamily="18" charset="0"/>
                <a:cs typeface="Times New Roman" panose="02020603050405020304" pitchFamily="18" charset="0"/>
              </a:rPr>
              <a:t>h+i</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w+j</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End For</a:t>
            </a:r>
          </a:p>
          <a:p>
            <a:pPr marL="0" indent="0">
              <a:buNone/>
            </a:pPr>
            <a:r>
              <a:rPr lang="en-IN" sz="1800" dirty="0">
                <a:latin typeface="Times New Roman" panose="02020603050405020304" pitchFamily="18" charset="0"/>
                <a:cs typeface="Times New Roman" panose="02020603050405020304" pitchFamily="18" charset="0"/>
              </a:rPr>
              <a:t>                    End For</a:t>
            </a:r>
          </a:p>
          <a:p>
            <a:pPr marL="0" indent="0">
              <a:buNone/>
            </a:pPr>
            <a:r>
              <a:rPr lang="en-IN" sz="1800" dirty="0">
                <a:latin typeface="Times New Roman" panose="02020603050405020304" pitchFamily="18" charset="0"/>
                <a:cs typeface="Times New Roman" panose="02020603050405020304" pitchFamily="18" charset="0"/>
              </a:rPr>
              <a:t>                End For</a:t>
            </a:r>
          </a:p>
        </p:txBody>
      </p:sp>
      <p:sp>
        <p:nvSpPr>
          <p:cNvPr id="5" name="TextBox 4">
            <a:extLst>
              <a:ext uri="{FF2B5EF4-FFF2-40B4-BE49-F238E27FC236}">
                <a16:creationId xmlns:a16="http://schemas.microsoft.com/office/drawing/2014/main" id="{6D49BC39-3CB6-49BD-AF10-58C024099597}"/>
              </a:ext>
            </a:extLst>
          </p:cNvPr>
          <p:cNvSpPr txBox="1"/>
          <p:nvPr/>
        </p:nvSpPr>
        <p:spPr>
          <a:xfrm>
            <a:off x="7429502" y="1219199"/>
            <a:ext cx="4171950"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indent="0">
              <a:buNone/>
            </a:pPr>
            <a:r>
              <a:rPr lang="en-IN" dirty="0">
                <a:latin typeface="Times New Roman" panose="02020603050405020304" pitchFamily="18" charset="0"/>
                <a:cs typeface="Times New Roman" panose="02020603050405020304" pitchFamily="18" charset="0"/>
              </a:rPr>
              <a:t>Y[co][h][w] = </a:t>
            </a:r>
            <a:r>
              <a:rPr lang="en-IN" dirty="0" err="1">
                <a:latin typeface="Times New Roman" panose="02020603050405020304" pitchFamily="18" charset="0"/>
                <a:cs typeface="Times New Roman" panose="02020603050405020304" pitchFamily="18" charset="0"/>
              </a:rPr>
              <a:t>ReLU</a:t>
            </a:r>
            <a:r>
              <a:rPr lang="en-IN" dirty="0">
                <a:latin typeface="Times New Roman" panose="02020603050405020304" pitchFamily="18" charset="0"/>
                <a:cs typeface="Times New Roman" panose="02020603050405020304" pitchFamily="18" charset="0"/>
              </a:rPr>
              <a:t>(sum + B[co])</a:t>
            </a:r>
          </a:p>
          <a:p>
            <a:pPr marL="0" indent="0">
              <a:buNone/>
            </a:pPr>
            <a:r>
              <a:rPr lang="en-IN" dirty="0">
                <a:latin typeface="Times New Roman" panose="02020603050405020304" pitchFamily="18" charset="0"/>
                <a:cs typeface="Times New Roman" panose="02020603050405020304" pitchFamily="18" charset="0"/>
              </a:rPr>
              <a:t>            End For</a:t>
            </a:r>
          </a:p>
          <a:p>
            <a:pPr marL="0" indent="0">
              <a:buNone/>
            </a:pPr>
            <a:r>
              <a:rPr lang="en-IN" dirty="0">
                <a:latin typeface="Times New Roman" panose="02020603050405020304" pitchFamily="18" charset="0"/>
                <a:cs typeface="Times New Roman" panose="02020603050405020304" pitchFamily="18" charset="0"/>
              </a:rPr>
              <a:t>        End For</a:t>
            </a:r>
          </a:p>
          <a:p>
            <a:pPr marL="0" indent="0">
              <a:buNone/>
            </a:pPr>
            <a:r>
              <a:rPr lang="en-IN" dirty="0">
                <a:latin typeface="Times New Roman" panose="02020603050405020304" pitchFamily="18" charset="0"/>
                <a:cs typeface="Times New Roman" panose="02020603050405020304" pitchFamily="18" charset="0"/>
              </a:rPr>
              <a:t>    End For</a:t>
            </a:r>
          </a:p>
          <a:p>
            <a:pPr marL="0" indent="0">
              <a:buNone/>
            </a:pPr>
            <a:r>
              <a:rPr lang="en-IN" dirty="0">
                <a:latin typeface="Times New Roman" panose="02020603050405020304" pitchFamily="18" charset="0"/>
                <a:cs typeface="Times New Roman" panose="02020603050405020304" pitchFamily="18" charset="0"/>
              </a:rPr>
              <a:t>    X = </a:t>
            </a:r>
            <a:r>
              <a:rPr lang="en-IN" dirty="0" err="1">
                <a:latin typeface="Times New Roman" panose="02020603050405020304" pitchFamily="18" charset="0"/>
                <a:cs typeface="Times New Roman" panose="02020603050405020304" pitchFamily="18" charset="0"/>
              </a:rPr>
              <a:t>MaxPooling</a:t>
            </a:r>
            <a:r>
              <a:rPr lang="en-IN" dirty="0">
                <a:latin typeface="Times New Roman" panose="02020603050405020304" pitchFamily="18" charset="0"/>
                <a:cs typeface="Times New Roman" panose="02020603050405020304" pitchFamily="18" charset="0"/>
              </a:rPr>
              <a:t>(Y)</a:t>
            </a:r>
          </a:p>
          <a:p>
            <a:pPr marL="0" indent="0">
              <a:buNone/>
            </a:pPr>
            <a:r>
              <a:rPr lang="en-IN" dirty="0">
                <a:latin typeface="Times New Roman" panose="02020603050405020304" pitchFamily="18" charset="0"/>
                <a:cs typeface="Times New Roman" panose="02020603050405020304" pitchFamily="18" charset="0"/>
              </a:rPr>
              <a:t>End For</a:t>
            </a:r>
          </a:p>
          <a:p>
            <a:pPr marL="0" indent="0">
              <a:buNone/>
            </a:pPr>
            <a:r>
              <a:rPr lang="en-IN" dirty="0">
                <a:latin typeface="Times New Roman" panose="02020603050405020304" pitchFamily="18" charset="0"/>
                <a:cs typeface="Times New Roman" panose="02020603050405020304" pitchFamily="18" charset="0"/>
              </a:rPr>
              <a:t>F = </a:t>
            </a:r>
            <a:r>
              <a:rPr lang="en-IN" dirty="0" err="1">
                <a:latin typeface="Times New Roman" panose="02020603050405020304" pitchFamily="18" charset="0"/>
                <a:cs typeface="Times New Roman" panose="02020603050405020304" pitchFamily="18" charset="0"/>
              </a:rPr>
              <a:t>GlobalAveragePooling</a:t>
            </a:r>
            <a:r>
              <a:rPr lang="en-IN" dirty="0">
                <a:latin typeface="Times New Roman" panose="02020603050405020304" pitchFamily="18" charset="0"/>
                <a:cs typeface="Times New Roman" panose="02020603050405020304" pitchFamily="18" charset="0"/>
              </a:rPr>
              <a:t>(X)</a:t>
            </a:r>
          </a:p>
          <a:p>
            <a:pPr marL="0" indent="0">
              <a:buNone/>
            </a:pPr>
            <a:r>
              <a:rPr lang="en-IN" dirty="0">
                <a:latin typeface="Times New Roman" panose="02020603050405020304" pitchFamily="18" charset="0"/>
                <a:cs typeface="Times New Roman" panose="02020603050405020304" pitchFamily="18" charset="0"/>
              </a:rPr>
              <a:t>Return F</a:t>
            </a:r>
            <a:endParaRPr lang="en-IN" dirty="0"/>
          </a:p>
        </p:txBody>
      </p:sp>
    </p:spTree>
    <p:extLst>
      <p:ext uri="{BB962C8B-B14F-4D97-AF65-F5344CB8AC3E}">
        <p14:creationId xmlns:p14="http://schemas.microsoft.com/office/powerpoint/2010/main" val="1670759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181CA-656F-462F-3B20-EE5C827D48DE}"/>
              </a:ext>
            </a:extLst>
          </p:cNvPr>
          <p:cNvSpPr>
            <a:spLocks noGrp="1"/>
          </p:cNvSpPr>
          <p:nvPr>
            <p:ph type="title"/>
          </p:nvPr>
        </p:nvSpPr>
        <p:spPr>
          <a:xfrm>
            <a:off x="838200" y="361950"/>
            <a:ext cx="10515600" cy="701675"/>
          </a:xfrm>
        </p:spPr>
        <p:txBody>
          <a:bodyPr>
            <a:normAutofit/>
          </a:bodyPr>
          <a:lstStyle/>
          <a:p>
            <a:r>
              <a:rPr lang="en-IN" sz="3600" b="1" dirty="0">
                <a:latin typeface="Times New Roman" panose="02020603050405020304" pitchFamily="18" charset="0"/>
                <a:cs typeface="Times New Roman" panose="02020603050405020304" pitchFamily="18" charset="0"/>
              </a:rPr>
              <a:t>Algorithms – Cosine Similarity</a:t>
            </a:r>
            <a:endParaRPr lang="en-IN" sz="3600" dirty="0"/>
          </a:p>
        </p:txBody>
      </p:sp>
      <p:sp>
        <p:nvSpPr>
          <p:cNvPr id="3" name="Content Placeholder 2">
            <a:extLst>
              <a:ext uri="{FF2B5EF4-FFF2-40B4-BE49-F238E27FC236}">
                <a16:creationId xmlns:a16="http://schemas.microsoft.com/office/drawing/2014/main" id="{DC41A9D4-DDA2-8343-12FB-DBE283169FEB}"/>
              </a:ext>
            </a:extLst>
          </p:cNvPr>
          <p:cNvSpPr>
            <a:spLocks noGrp="1"/>
          </p:cNvSpPr>
          <p:nvPr>
            <p:ph idx="1"/>
          </p:nvPr>
        </p:nvSpPr>
        <p:spPr>
          <a:xfrm>
            <a:off x="838200" y="1358347"/>
            <a:ext cx="10620375" cy="4903305"/>
          </a:xfrm>
          <a:ln>
            <a:no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Input: X[1…n], Y[1…n]  </a:t>
            </a:r>
          </a:p>
          <a:p>
            <a:pPr marL="0" indent="0">
              <a:buNone/>
            </a:pPr>
            <a:r>
              <a:rPr lang="en-US" sz="1800" dirty="0">
                <a:latin typeface="Times New Roman" panose="02020603050405020304" pitchFamily="18" charset="0"/>
                <a:cs typeface="Times New Roman" panose="02020603050405020304" pitchFamily="18" charset="0"/>
              </a:rPr>
              <a:t>Output: </a:t>
            </a:r>
            <a:r>
              <a:rPr lang="en-US" sz="1800" dirty="0" err="1">
                <a:latin typeface="Times New Roman" panose="02020603050405020304" pitchFamily="18" charset="0"/>
                <a:cs typeface="Times New Roman" panose="02020603050405020304" pitchFamily="18" charset="0"/>
              </a:rPr>
              <a:t>cos_sim</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err="1">
                <a:latin typeface="Times New Roman" panose="02020603050405020304" pitchFamily="18" charset="0"/>
                <a:cs typeface="Times New Roman" panose="02020603050405020304" pitchFamily="18" charset="0"/>
              </a:rPr>
              <a:t>dot_product</a:t>
            </a:r>
            <a:r>
              <a:rPr lang="en-US" sz="1800" dirty="0">
                <a:latin typeface="Times New Roman" panose="02020603050405020304" pitchFamily="18" charset="0"/>
                <a:cs typeface="Times New Roman" panose="02020603050405020304" pitchFamily="18" charset="0"/>
              </a:rPr>
              <a:t> = 0</a:t>
            </a:r>
          </a:p>
          <a:p>
            <a:pPr marL="0" indent="0">
              <a:buNone/>
            </a:pPr>
            <a:r>
              <a:rPr lang="en-US" sz="1800" dirty="0" err="1">
                <a:latin typeface="Times New Roman" panose="02020603050405020304" pitchFamily="18" charset="0"/>
                <a:cs typeface="Times New Roman" panose="02020603050405020304" pitchFamily="18" charset="0"/>
              </a:rPr>
              <a:t>norm_x</a:t>
            </a:r>
            <a:r>
              <a:rPr lang="en-US" sz="1800" dirty="0">
                <a:latin typeface="Times New Roman" panose="02020603050405020304" pitchFamily="18" charset="0"/>
                <a:cs typeface="Times New Roman" panose="02020603050405020304" pitchFamily="18" charset="0"/>
              </a:rPr>
              <a:t> = 0</a:t>
            </a:r>
          </a:p>
          <a:p>
            <a:pPr marL="0" indent="0">
              <a:buNone/>
            </a:pPr>
            <a:r>
              <a:rPr lang="en-US" sz="1800" dirty="0" err="1">
                <a:latin typeface="Times New Roman" panose="02020603050405020304" pitchFamily="18" charset="0"/>
                <a:cs typeface="Times New Roman" panose="02020603050405020304" pitchFamily="18" charset="0"/>
              </a:rPr>
              <a:t>norm_y</a:t>
            </a:r>
            <a:r>
              <a:rPr lang="en-US" sz="1800" dirty="0">
                <a:latin typeface="Times New Roman" panose="02020603050405020304" pitchFamily="18" charset="0"/>
                <a:cs typeface="Times New Roman" panose="02020603050405020304" pitchFamily="18" charset="0"/>
              </a:rPr>
              <a:t> = 0</a:t>
            </a:r>
          </a:p>
          <a:p>
            <a:pPr marL="0" indent="0">
              <a:buNone/>
            </a:pPr>
            <a:r>
              <a:rPr lang="en-US" sz="1800" dirty="0">
                <a:latin typeface="Times New Roman" panose="02020603050405020304" pitchFamily="18" charset="0"/>
                <a:cs typeface="Times New Roman" panose="02020603050405020304" pitchFamily="18" charset="0"/>
              </a:rPr>
              <a:t>For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1 to n do</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dot_product</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dot_product</a:t>
            </a:r>
            <a:r>
              <a:rPr lang="en-US" sz="1800" dirty="0">
                <a:latin typeface="Times New Roman" panose="02020603050405020304" pitchFamily="18" charset="0"/>
                <a:cs typeface="Times New Roman" panose="02020603050405020304" pitchFamily="18" charset="0"/>
              </a:rPr>
              <a:t> + X[</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Y[</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norm_x</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norm_x</a:t>
            </a:r>
            <a:r>
              <a:rPr lang="en-US" sz="1800" dirty="0">
                <a:latin typeface="Times New Roman" panose="02020603050405020304" pitchFamily="18" charset="0"/>
                <a:cs typeface="Times New Roman" panose="02020603050405020304" pitchFamily="18" charset="0"/>
              </a:rPr>
              <a:t> + X[</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X[</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norm_y</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norm_y</a:t>
            </a:r>
            <a:r>
              <a:rPr lang="en-US" sz="1800" dirty="0">
                <a:latin typeface="Times New Roman" panose="02020603050405020304" pitchFamily="18" charset="0"/>
                <a:cs typeface="Times New Roman" panose="02020603050405020304" pitchFamily="18" charset="0"/>
              </a:rPr>
              <a:t> + Y[</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Y[</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End For</a:t>
            </a:r>
          </a:p>
          <a:p>
            <a:pPr marL="0" indent="0">
              <a:buNone/>
            </a:pPr>
            <a:r>
              <a:rPr lang="en-US" sz="1800" dirty="0" err="1">
                <a:latin typeface="Times New Roman" panose="02020603050405020304" pitchFamily="18" charset="0"/>
                <a:cs typeface="Times New Roman" panose="02020603050405020304" pitchFamily="18" charset="0"/>
              </a:rPr>
              <a:t>cos_sim</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dot_product</a:t>
            </a:r>
            <a:r>
              <a:rPr lang="en-US" sz="1800" dirty="0">
                <a:latin typeface="Times New Roman" panose="02020603050405020304" pitchFamily="18" charset="0"/>
                <a:cs typeface="Times New Roman" panose="02020603050405020304" pitchFamily="18" charset="0"/>
              </a:rPr>
              <a:t> / sqrt(</a:t>
            </a:r>
            <a:r>
              <a:rPr lang="en-US" sz="1800" dirty="0" err="1">
                <a:latin typeface="Times New Roman" panose="02020603050405020304" pitchFamily="18" charset="0"/>
                <a:cs typeface="Times New Roman" panose="02020603050405020304" pitchFamily="18" charset="0"/>
              </a:rPr>
              <a:t>norm_x</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norm_y</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Return </a:t>
            </a:r>
            <a:r>
              <a:rPr lang="en-US" sz="1800" dirty="0" err="1">
                <a:latin typeface="Times New Roman" panose="02020603050405020304" pitchFamily="18" charset="0"/>
                <a:cs typeface="Times New Roman" panose="02020603050405020304" pitchFamily="18" charset="0"/>
              </a:rPr>
              <a:t>cos_sim</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8773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B4111A-1F10-1776-9B4A-F7D5EA17B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365" y="1348034"/>
            <a:ext cx="11209905" cy="5354228"/>
          </a:xfrm>
          <a:prstGeom prst="rect">
            <a:avLst/>
          </a:prstGeom>
        </p:spPr>
      </p:pic>
      <p:sp>
        <p:nvSpPr>
          <p:cNvPr id="5" name="TextBox 4">
            <a:extLst>
              <a:ext uri="{FF2B5EF4-FFF2-40B4-BE49-F238E27FC236}">
                <a16:creationId xmlns:a16="http://schemas.microsoft.com/office/drawing/2014/main" id="{873F9ED6-8175-6225-968E-43BE1515EE97}"/>
              </a:ext>
            </a:extLst>
          </p:cNvPr>
          <p:cNvSpPr txBox="1"/>
          <p:nvPr/>
        </p:nvSpPr>
        <p:spPr>
          <a:xfrm>
            <a:off x="339365" y="414779"/>
            <a:ext cx="10001839"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Architecture diagram</a:t>
            </a:r>
            <a:endParaRPr lang="en-IN" sz="4400" dirty="0"/>
          </a:p>
        </p:txBody>
      </p:sp>
    </p:spTree>
    <p:extLst>
      <p:ext uri="{BB962C8B-B14F-4D97-AF65-F5344CB8AC3E}">
        <p14:creationId xmlns:p14="http://schemas.microsoft.com/office/powerpoint/2010/main" val="479636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FF7B8-E71E-14C2-0E72-78EFDDE809EC}"/>
              </a:ext>
            </a:extLst>
          </p:cNvPr>
          <p:cNvSpPr>
            <a:spLocks noGrp="1"/>
          </p:cNvSpPr>
          <p:nvPr>
            <p:ph type="title"/>
          </p:nvPr>
        </p:nvSpPr>
        <p:spPr>
          <a:xfrm>
            <a:off x="838200" y="169795"/>
            <a:ext cx="10515600" cy="796166"/>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Implementation Steps and Execution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ABAEF0-024A-C46F-69F0-B89072F3DCC1}"/>
              </a:ext>
            </a:extLst>
          </p:cNvPr>
          <p:cNvSpPr>
            <a:spLocks noGrp="1"/>
          </p:cNvSpPr>
          <p:nvPr>
            <p:ph idx="1"/>
          </p:nvPr>
        </p:nvSpPr>
        <p:spPr>
          <a:xfrm>
            <a:off x="838200" y="1588168"/>
            <a:ext cx="10515600" cy="4891489"/>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Implementation Steps</a:t>
            </a:r>
          </a:p>
          <a:p>
            <a:r>
              <a:rPr lang="en-US" sz="2000" dirty="0">
                <a:latin typeface="Times New Roman" panose="02020603050405020304" pitchFamily="18" charset="0"/>
                <a:cs typeface="Times New Roman" panose="02020603050405020304" pitchFamily="18" charset="0"/>
              </a:rPr>
              <a:t>The correlation-aware multimodal framework is used to study the relationship between tissue images and gene expression data in breast cancer.</a:t>
            </a:r>
          </a:p>
          <a:p>
            <a:r>
              <a:rPr lang="en-US" sz="2000" dirty="0">
                <a:latin typeface="Times New Roman" panose="02020603050405020304" pitchFamily="18" charset="0"/>
                <a:cs typeface="Times New Roman" panose="02020603050405020304" pitchFamily="18" charset="0"/>
              </a:rPr>
              <a:t>Histopathological images and RNA-Seq gene expression data are collected and aligned based on the same samples for proper combined analysis.</a:t>
            </a:r>
          </a:p>
          <a:p>
            <a:r>
              <a:rPr lang="en-US" sz="2000" dirty="0">
                <a:latin typeface="Times New Roman" panose="02020603050405020304" pitchFamily="18" charset="0"/>
                <a:cs typeface="Times New Roman" panose="02020603050405020304" pitchFamily="18" charset="0"/>
              </a:rPr>
              <a:t>Histopathological images are preprocessed by resizing them to fixed dimensions, normalizing pixel values, and converting them into tensor representations for deep learning analysis.</a:t>
            </a:r>
          </a:p>
          <a:p>
            <a:r>
              <a:rPr lang="en-US" sz="2000" dirty="0">
                <a:latin typeface="Times New Roman" panose="02020603050405020304" pitchFamily="18" charset="0"/>
                <a:cs typeface="Times New Roman" panose="02020603050405020304" pitchFamily="18" charset="0"/>
              </a:rPr>
              <a:t>Important features from tissue images are extracted using a deep learning CNN model to represent the structure of the tissue.</a:t>
            </a:r>
          </a:p>
          <a:p>
            <a:r>
              <a:rPr lang="en-US" sz="2000" dirty="0">
                <a:latin typeface="Times New Roman" panose="02020603050405020304" pitchFamily="18" charset="0"/>
                <a:cs typeface="Times New Roman" panose="02020603050405020304" pitchFamily="18" charset="0"/>
              </a:rPr>
              <a:t>Gene expression data is normalized to make values comparable and reduced using PCA to keep only the most important information.</a:t>
            </a:r>
          </a:p>
          <a:p>
            <a:r>
              <a:rPr lang="en-US" sz="2000" dirty="0">
                <a:latin typeface="Times New Roman" panose="02020603050405020304" pitchFamily="18" charset="0"/>
                <a:cs typeface="Times New Roman" panose="02020603050405020304" pitchFamily="18" charset="0"/>
              </a:rPr>
              <a:t>Image features are also reduced using PCA to remove unnecessary or repeated data.</a:t>
            </a:r>
          </a:p>
          <a:p>
            <a:r>
              <a:rPr lang="en-US" sz="2000" dirty="0">
                <a:latin typeface="Times New Roman" panose="02020603050405020304" pitchFamily="18" charset="0"/>
                <a:cs typeface="Times New Roman" panose="02020603050405020304" pitchFamily="18" charset="0"/>
              </a:rPr>
              <a:t>Constructed a shared latent feature space to represent both image and genomic data in a unified form.</a:t>
            </a:r>
          </a:p>
          <a:p>
            <a:pPr algn="just">
              <a:lnSpc>
                <a:spcPct val="16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60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933A-10C1-5368-70A6-E8E2D6539013}"/>
              </a:ext>
            </a:extLst>
          </p:cNvPr>
          <p:cNvSpPr>
            <a:spLocks noGrp="1"/>
          </p:cNvSpPr>
          <p:nvPr>
            <p:ph type="title"/>
          </p:nvPr>
        </p:nvSpPr>
        <p:spPr>
          <a:xfrm>
            <a:off x="758687" y="302332"/>
            <a:ext cx="10515600" cy="757409"/>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Implementation Steps and Execution</a:t>
            </a:r>
            <a:endParaRPr lang="en-IN" dirty="0"/>
          </a:p>
        </p:txBody>
      </p:sp>
      <p:sp>
        <p:nvSpPr>
          <p:cNvPr id="3" name="Content Placeholder 2">
            <a:extLst>
              <a:ext uri="{FF2B5EF4-FFF2-40B4-BE49-F238E27FC236}">
                <a16:creationId xmlns:a16="http://schemas.microsoft.com/office/drawing/2014/main" id="{F62AB561-9AF8-D281-66B4-4958D5651E7A}"/>
              </a:ext>
            </a:extLst>
          </p:cNvPr>
          <p:cNvSpPr>
            <a:spLocks noGrp="1"/>
          </p:cNvSpPr>
          <p:nvPr>
            <p:ph idx="1"/>
          </p:nvPr>
        </p:nvSpPr>
        <p:spPr>
          <a:xfrm>
            <a:off x="849795" y="1783262"/>
            <a:ext cx="10790583" cy="3911859"/>
          </a:xfrm>
        </p:spPr>
        <p:txBody>
          <a:bodyPr>
            <a:normAutofit/>
          </a:bodyPr>
          <a:lstStyle/>
          <a:p>
            <a:pPr marL="0" indent="0">
              <a:lnSpc>
                <a:spcPct val="100000"/>
              </a:lnSpc>
              <a:buNone/>
            </a:pPr>
            <a:r>
              <a:rPr lang="en-US" sz="2000" b="1" dirty="0">
                <a:latin typeface="Times New Roman" panose="02020603050405020304" pitchFamily="18" charset="0"/>
                <a:cs typeface="Times New Roman" panose="02020603050405020304" pitchFamily="18" charset="0"/>
              </a:rPr>
              <a:t>Execution</a:t>
            </a:r>
          </a:p>
          <a:p>
            <a:pPr>
              <a:lnSpc>
                <a:spcPct val="100000"/>
              </a:lnSpc>
            </a:pPr>
            <a:r>
              <a:rPr lang="en-US" sz="2000" dirty="0">
                <a:latin typeface="Times New Roman" panose="02020603050405020304" pitchFamily="18" charset="0"/>
                <a:cs typeface="Times New Roman" panose="02020603050405020304" pitchFamily="18" charset="0"/>
              </a:rPr>
              <a:t>Both image and genomic features are mapped into a shared latent space where correlation scores are calculated to measure how strongly the two modalities are related.</a:t>
            </a:r>
          </a:p>
          <a:p>
            <a:pPr>
              <a:lnSpc>
                <a:spcPct val="100000"/>
              </a:lnSpc>
            </a:pPr>
            <a:r>
              <a:rPr lang="en-US" sz="2000" dirty="0">
                <a:latin typeface="Times New Roman" panose="02020603050405020304" pitchFamily="18" charset="0"/>
                <a:cs typeface="Times New Roman" panose="02020603050405020304" pitchFamily="18" charset="0"/>
              </a:rPr>
              <a:t>The correlation values are ranked to identify the strongest image–gene relationships, and highly correlated samples are selected for detailed analysis.</a:t>
            </a:r>
          </a:p>
          <a:p>
            <a:pPr>
              <a:lnSpc>
                <a:spcPct val="100000"/>
              </a:lnSpc>
            </a:pPr>
            <a:r>
              <a:rPr lang="en-US" sz="2000" dirty="0">
                <a:latin typeface="Times New Roman" panose="02020603050405020304" pitchFamily="18" charset="0"/>
                <a:cs typeface="Times New Roman" panose="02020603050405020304" pitchFamily="18" charset="0"/>
              </a:rPr>
              <a:t>Finally, the results are visualized using correlation plots, feature distributions, and representative tissue images to understand how tissue morphology is associated with gene-expression patterns and to validate potential multimodal biomarkers.</a:t>
            </a:r>
          </a:p>
          <a:p>
            <a:pPr marL="0" indent="0">
              <a:buNone/>
            </a:pPr>
            <a:endParaRPr lang="en-IN" dirty="0"/>
          </a:p>
        </p:txBody>
      </p:sp>
    </p:spTree>
    <p:extLst>
      <p:ext uri="{BB962C8B-B14F-4D97-AF65-F5344CB8AC3E}">
        <p14:creationId xmlns:p14="http://schemas.microsoft.com/office/powerpoint/2010/main" val="2989906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2638-16B6-93B3-EB7D-69B1F11A1536}"/>
              </a:ext>
            </a:extLst>
          </p:cNvPr>
          <p:cNvSpPr>
            <a:spLocks noGrp="1"/>
          </p:cNvSpPr>
          <p:nvPr>
            <p:ph type="title"/>
          </p:nvPr>
        </p:nvSpPr>
        <p:spPr>
          <a:xfrm>
            <a:off x="660449" y="219869"/>
            <a:ext cx="10515600" cy="520700"/>
          </a:xfrm>
        </p:spPr>
        <p:txBody>
          <a:bodyPr>
            <a:noAutofit/>
          </a:bodyPr>
          <a:lstStyle/>
          <a:p>
            <a:r>
              <a:rPr lang="en-IN" b="1" dirty="0">
                <a:latin typeface="Times New Roman" panose="02020603050405020304" pitchFamily="18" charset="0"/>
                <a:cs typeface="Times New Roman" panose="02020603050405020304" pitchFamily="18" charset="0"/>
              </a:rPr>
              <a:t>Results </a:t>
            </a:r>
          </a:p>
        </p:txBody>
      </p:sp>
      <p:pic>
        <p:nvPicPr>
          <p:cNvPr id="6" name="Content Placeholder 5">
            <a:extLst>
              <a:ext uri="{FF2B5EF4-FFF2-40B4-BE49-F238E27FC236}">
                <a16:creationId xmlns:a16="http://schemas.microsoft.com/office/drawing/2014/main" id="{BF0264EC-3CB6-7A7F-2AE4-93F14A49A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118" y="1041503"/>
            <a:ext cx="3404500" cy="4908723"/>
          </a:xfrm>
          <a:prstGeom prst="rect">
            <a:avLst/>
          </a:prstGeom>
        </p:spPr>
      </p:pic>
      <p:pic>
        <p:nvPicPr>
          <p:cNvPr id="11" name="Picture 10">
            <a:extLst>
              <a:ext uri="{FF2B5EF4-FFF2-40B4-BE49-F238E27FC236}">
                <a16:creationId xmlns:a16="http://schemas.microsoft.com/office/drawing/2014/main" id="{46B84862-283C-4B19-9D64-7DFCEE566B8F}"/>
              </a:ext>
            </a:extLst>
          </p:cNvPr>
          <p:cNvPicPr>
            <a:picLocks noChangeAspect="1"/>
          </p:cNvPicPr>
          <p:nvPr/>
        </p:nvPicPr>
        <p:blipFill>
          <a:blip r:embed="rId4"/>
          <a:stretch>
            <a:fillRect/>
          </a:stretch>
        </p:blipFill>
        <p:spPr>
          <a:xfrm>
            <a:off x="4582324" y="3741671"/>
            <a:ext cx="7364120" cy="2289364"/>
          </a:xfrm>
          <a:prstGeom prst="rect">
            <a:avLst/>
          </a:prstGeom>
        </p:spPr>
      </p:pic>
      <p:pic>
        <p:nvPicPr>
          <p:cNvPr id="15" name="Content Placeholder 3">
            <a:extLst>
              <a:ext uri="{FF2B5EF4-FFF2-40B4-BE49-F238E27FC236}">
                <a16:creationId xmlns:a16="http://schemas.microsoft.com/office/drawing/2014/main" id="{B8E04BCA-FDE4-9FD4-640E-5F7353E70A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3567" y="776382"/>
            <a:ext cx="4572000" cy="2733875"/>
          </a:xfrm>
          <a:prstGeom prst="rect">
            <a:avLst/>
          </a:prstGeom>
        </p:spPr>
      </p:pic>
      <p:pic>
        <p:nvPicPr>
          <p:cNvPr id="16" name="Content Placeholder 4">
            <a:extLst>
              <a:ext uri="{FF2B5EF4-FFF2-40B4-BE49-F238E27FC236}">
                <a16:creationId xmlns:a16="http://schemas.microsoft.com/office/drawing/2014/main" id="{BC22A31F-5353-DA2D-AB7D-495925A59F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32348" y="885681"/>
            <a:ext cx="2971801" cy="2733875"/>
          </a:xfrm>
          <a:prstGeom prst="rect">
            <a:avLst/>
          </a:prstGeom>
        </p:spPr>
      </p:pic>
      <p:sp>
        <p:nvSpPr>
          <p:cNvPr id="3" name="TextBox 2">
            <a:extLst>
              <a:ext uri="{FF2B5EF4-FFF2-40B4-BE49-F238E27FC236}">
                <a16:creationId xmlns:a16="http://schemas.microsoft.com/office/drawing/2014/main" id="{8DBF725D-A745-484A-9701-CA0866284BBA}"/>
              </a:ext>
            </a:extLst>
          </p:cNvPr>
          <p:cNvSpPr txBox="1"/>
          <p:nvPr/>
        </p:nvSpPr>
        <p:spPr>
          <a:xfrm>
            <a:off x="302930" y="6134100"/>
            <a:ext cx="3844876"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1: MLP classification results for genetic data showing accuracy metrics and confusion matrix</a:t>
            </a:r>
            <a:endParaRPr lang="en-IN"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F73765C-C8B0-4A12-895D-A436963B3C11}"/>
              </a:ext>
            </a:extLst>
          </p:cNvPr>
          <p:cNvSpPr txBox="1"/>
          <p:nvPr/>
        </p:nvSpPr>
        <p:spPr>
          <a:xfrm>
            <a:off x="4572000" y="6153150"/>
            <a:ext cx="7513567" cy="646331"/>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2: Imaging classification results showing confusion matrix performance, ROI segmentation of the tumor region, and explainable heatmap visualization for malignancy prediction.</a:t>
            </a:r>
          </a:p>
          <a:p>
            <a:pPr algn="just"/>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09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8A407-8642-2C98-7AC8-F271E21C7645}"/>
              </a:ext>
            </a:extLst>
          </p:cNvPr>
          <p:cNvSpPr>
            <a:spLocks noGrp="1"/>
          </p:cNvSpPr>
          <p:nvPr>
            <p:ph type="title"/>
          </p:nvPr>
        </p:nvSpPr>
        <p:spPr>
          <a:xfrm>
            <a:off x="609479" y="132884"/>
            <a:ext cx="10972440" cy="971139"/>
          </a:xfrm>
        </p:spPr>
        <p:txBody>
          <a:bodyPr/>
          <a:lstStyle/>
          <a:p>
            <a:r>
              <a:rPr lang="en-US" b="1" dirty="0">
                <a:latin typeface="Times New Roman" panose="02020603050405020304" pitchFamily="18" charset="0"/>
                <a:cs typeface="Times New Roman" panose="02020603050405020304" pitchFamily="18" charset="0"/>
              </a:rPr>
              <a:t>Results</a:t>
            </a:r>
            <a:endParaRPr lang="en-IN" dirty="0"/>
          </a:p>
        </p:txBody>
      </p:sp>
      <p:pic>
        <p:nvPicPr>
          <p:cNvPr id="9" name="Content Placeholder 10">
            <a:extLst>
              <a:ext uri="{FF2B5EF4-FFF2-40B4-BE49-F238E27FC236}">
                <a16:creationId xmlns:a16="http://schemas.microsoft.com/office/drawing/2014/main" id="{E7E7D224-C265-65B8-D42D-2335D48BC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699" y="804080"/>
            <a:ext cx="2600914" cy="2689787"/>
          </a:xfrm>
          <a:prstGeom prst="rect">
            <a:avLst/>
          </a:prstGeom>
        </p:spPr>
      </p:pic>
      <p:pic>
        <p:nvPicPr>
          <p:cNvPr id="5" name="Picture 4">
            <a:extLst>
              <a:ext uri="{FF2B5EF4-FFF2-40B4-BE49-F238E27FC236}">
                <a16:creationId xmlns:a16="http://schemas.microsoft.com/office/drawing/2014/main" id="{68CF9E95-BAB2-FBB0-15C7-982FB34EB4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750" y="3870230"/>
            <a:ext cx="11058699" cy="2307652"/>
          </a:xfrm>
          <a:prstGeom prst="rect">
            <a:avLst/>
          </a:prstGeom>
        </p:spPr>
      </p:pic>
      <p:pic>
        <p:nvPicPr>
          <p:cNvPr id="3" name="Picture 2">
            <a:extLst>
              <a:ext uri="{FF2B5EF4-FFF2-40B4-BE49-F238E27FC236}">
                <a16:creationId xmlns:a16="http://schemas.microsoft.com/office/drawing/2014/main" id="{1D917731-E8C8-60B6-29FA-55683FE16A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750" y="881324"/>
            <a:ext cx="2123779" cy="2612543"/>
          </a:xfrm>
          <a:prstGeom prst="rect">
            <a:avLst/>
          </a:prstGeom>
        </p:spPr>
      </p:pic>
      <p:pic>
        <p:nvPicPr>
          <p:cNvPr id="4" name="Picture 3">
            <a:extLst>
              <a:ext uri="{FF2B5EF4-FFF2-40B4-BE49-F238E27FC236}">
                <a16:creationId xmlns:a16="http://schemas.microsoft.com/office/drawing/2014/main" id="{583992F5-845B-A96A-AF67-7BC7C9EDBE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56826" y="842704"/>
            <a:ext cx="3130827" cy="2689786"/>
          </a:xfrm>
          <a:prstGeom prst="rect">
            <a:avLst/>
          </a:prstGeom>
        </p:spPr>
      </p:pic>
      <p:pic>
        <p:nvPicPr>
          <p:cNvPr id="11" name="Content Placeholder 10">
            <a:extLst>
              <a:ext uri="{FF2B5EF4-FFF2-40B4-BE49-F238E27FC236}">
                <a16:creationId xmlns:a16="http://schemas.microsoft.com/office/drawing/2014/main" id="{40863005-C70C-560D-32C0-8D9B85BF2B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613" y="759080"/>
            <a:ext cx="3338873" cy="3072529"/>
          </a:xfrm>
          <a:prstGeom prst="rect">
            <a:avLst/>
          </a:prstGeom>
        </p:spPr>
      </p:pic>
      <p:sp>
        <p:nvSpPr>
          <p:cNvPr id="8" name="TextBox 7">
            <a:extLst>
              <a:ext uri="{FF2B5EF4-FFF2-40B4-BE49-F238E27FC236}">
                <a16:creationId xmlns:a16="http://schemas.microsoft.com/office/drawing/2014/main" id="{E91BAF60-88CD-4AEE-B1C5-8AC244EE386A}"/>
              </a:ext>
            </a:extLst>
          </p:cNvPr>
          <p:cNvSpPr txBox="1"/>
          <p:nvPr/>
        </p:nvSpPr>
        <p:spPr>
          <a:xfrm>
            <a:off x="1628239" y="6377122"/>
            <a:ext cx="8934920" cy="276999"/>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3: Image–gene correlation results showing top genes, correlation scores, distribution of cross modal correlations, and test interface output.</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766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CF172-29F9-0726-0B2C-B6949AB31392}"/>
              </a:ext>
            </a:extLst>
          </p:cNvPr>
          <p:cNvSpPr>
            <a:spLocks noGrp="1"/>
          </p:cNvSpPr>
          <p:nvPr>
            <p:ph type="title"/>
          </p:nvPr>
        </p:nvSpPr>
        <p:spPr>
          <a:xfrm>
            <a:off x="748748" y="287131"/>
            <a:ext cx="10515600" cy="787814"/>
          </a:xfrm>
        </p:spPr>
        <p:txBody>
          <a:bodyPr/>
          <a:lstStyle/>
          <a:p>
            <a:r>
              <a:rPr lang="en-US" b="1" dirty="0">
                <a:latin typeface="Times New Roman" panose="02020603050405020304" pitchFamily="18" charset="0"/>
                <a:cs typeface="Times New Roman" panose="02020603050405020304" pitchFamily="18" charset="0"/>
              </a:rPr>
              <a:t>Result Analysis</a:t>
            </a:r>
            <a:endParaRPr lang="en-IN" dirty="0"/>
          </a:p>
        </p:txBody>
      </p:sp>
      <p:sp>
        <p:nvSpPr>
          <p:cNvPr id="3" name="Content Placeholder 2">
            <a:extLst>
              <a:ext uri="{FF2B5EF4-FFF2-40B4-BE49-F238E27FC236}">
                <a16:creationId xmlns:a16="http://schemas.microsoft.com/office/drawing/2014/main" id="{E96262B2-37C2-6A55-6BA5-0EA6B96EB00B}"/>
              </a:ext>
            </a:extLst>
          </p:cNvPr>
          <p:cNvSpPr>
            <a:spLocks noGrp="1"/>
          </p:cNvSpPr>
          <p:nvPr>
            <p:ph idx="1"/>
          </p:nvPr>
        </p:nvSpPr>
        <p:spPr>
          <a:xfrm>
            <a:off x="748748" y="1253330"/>
            <a:ext cx="6129130" cy="5317539"/>
          </a:xfrm>
        </p:spPr>
        <p:txBody>
          <a:bodyPr>
            <a:normAutofit lnSpcReduction="10000"/>
          </a:bodyPr>
          <a:lstStyle/>
          <a:p>
            <a:pPr marL="0" indent="0" algn="just">
              <a:buNone/>
            </a:pPr>
            <a:r>
              <a:rPr lang="en-IN" sz="2000" dirty="0">
                <a:latin typeface="Times New Roman" panose="02020603050405020304" pitchFamily="18" charset="0"/>
                <a:cs typeface="Times New Roman" panose="02020603050405020304" pitchFamily="18" charset="0"/>
              </a:rPr>
              <a:t>MLP delivered the </a:t>
            </a:r>
            <a:r>
              <a:rPr lang="en-IN" sz="2000" b="1" dirty="0">
                <a:latin typeface="Times New Roman" panose="02020603050405020304" pitchFamily="18" charset="0"/>
                <a:cs typeface="Times New Roman" panose="02020603050405020304" pitchFamily="18" charset="0"/>
              </a:rPr>
              <a:t>best overall performance</a:t>
            </a:r>
            <a:r>
              <a:rPr lang="en-IN" sz="2000" dirty="0">
                <a:latin typeface="Times New Roman" panose="02020603050405020304" pitchFamily="18" charset="0"/>
                <a:cs typeface="Times New Roman" panose="02020603050405020304" pitchFamily="18" charset="0"/>
              </a:rPr>
              <a:t> among all models, achieving </a:t>
            </a:r>
            <a:r>
              <a:rPr lang="en-IN" sz="2000" b="1" dirty="0">
                <a:latin typeface="Times New Roman" panose="02020603050405020304" pitchFamily="18" charset="0"/>
                <a:cs typeface="Times New Roman" panose="02020603050405020304" pitchFamily="18" charset="0"/>
              </a:rPr>
              <a:t>99% accuracy</a:t>
            </a:r>
            <a:r>
              <a:rPr lang="en-IN" sz="2000" dirty="0">
                <a:latin typeface="Times New Roman" panose="02020603050405020304" pitchFamily="18" charset="0"/>
                <a:cs typeface="Times New Roman" panose="02020603050405020304" pitchFamily="18" charset="0"/>
              </a:rPr>
              <a:t>, with precision, recall, and F1-score all at </a:t>
            </a:r>
            <a:r>
              <a:rPr lang="en-IN" sz="2000" b="1" dirty="0">
                <a:latin typeface="Times New Roman" panose="02020603050405020304" pitchFamily="18" charset="0"/>
                <a:cs typeface="Times New Roman" panose="02020603050405020304" pitchFamily="18" charset="0"/>
              </a:rPr>
              <a:t>0.98</a:t>
            </a:r>
            <a:r>
              <a:rPr lang="en-IN" sz="2000" dirty="0">
                <a:latin typeface="Times New Roman" panose="02020603050405020304" pitchFamily="18" charset="0"/>
                <a:cs typeface="Times New Roman" panose="02020603050405020304" pitchFamily="18" charset="0"/>
              </a:rPr>
              <a:t>. This indicates the model’s exceptional ability to correctly identify both cancerous and non-cancerous cases while maintaining a low rate of misclassification. Its high recall is particularly important in medical diagnostics, as it minimizes the risk of missing actual cancer cases.</a:t>
            </a: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a:t>
            </a:r>
            <a:r>
              <a:rPr lang="en-US" sz="2000" b="1" dirty="0" err="1">
                <a:latin typeface="Times New Roman" panose="02020603050405020304" pitchFamily="18" charset="0"/>
                <a:cs typeface="Times New Roman" panose="02020603050405020304" pitchFamily="18" charset="0"/>
              </a:rPr>
              <a:t>RACapsNet</a:t>
            </a:r>
            <a:r>
              <a:rPr lang="en-US" sz="2000" dirty="0">
                <a:latin typeface="Times New Roman" panose="02020603050405020304" pitchFamily="18" charset="0"/>
                <a:cs typeface="Times New Roman" panose="02020603050405020304" pitchFamily="18" charset="0"/>
              </a:rPr>
              <a:t> model shows excellent learning stability, with validation accuracy steadily climbing from </a:t>
            </a:r>
            <a:r>
              <a:rPr lang="en-US" sz="2000" b="1" dirty="0">
                <a:latin typeface="Times New Roman" panose="02020603050405020304" pitchFamily="18" charset="0"/>
                <a:cs typeface="Times New Roman" panose="02020603050405020304" pitchFamily="18" charset="0"/>
              </a:rPr>
              <a:t>75% to 95%</a:t>
            </a:r>
            <a:r>
              <a:rPr lang="en-US" sz="2000" dirty="0">
                <a:latin typeface="Times New Roman" panose="02020603050405020304" pitchFamily="18" charset="0"/>
                <a:cs typeface="Times New Roman" panose="02020603050405020304" pitchFamily="18" charset="0"/>
              </a:rPr>
              <a:t> over 10 epochs. The training and validation curves remain closely aligned throughout the process, indicating </a:t>
            </a:r>
            <a:r>
              <a:rPr lang="en-US" sz="2000" b="1" dirty="0">
                <a:latin typeface="Times New Roman" panose="02020603050405020304" pitchFamily="18" charset="0"/>
                <a:cs typeface="Times New Roman" panose="02020603050405020304" pitchFamily="18" charset="0"/>
              </a:rPr>
              <a:t>minimal overfitting</a:t>
            </a:r>
            <a:r>
              <a:rPr lang="en-US" sz="2000" dirty="0">
                <a:latin typeface="Times New Roman" panose="02020603050405020304" pitchFamily="18" charset="0"/>
                <a:cs typeface="Times New Roman" panose="02020603050405020304" pitchFamily="18" charset="0"/>
              </a:rPr>
              <a:t> and strong generalization to new data. Rapid convergence in the early stages demonstrates the model's efficiency in learning critical diagnostic features from segmented tumor regions. Overall, these results confirm a </a:t>
            </a:r>
            <a:r>
              <a:rPr lang="en-US" sz="2000" b="1" dirty="0">
                <a:latin typeface="Times New Roman" panose="02020603050405020304" pitchFamily="18" charset="0"/>
                <a:cs typeface="Times New Roman" panose="02020603050405020304" pitchFamily="18" charset="0"/>
              </a:rPr>
              <a:t>reliable and robust system</a:t>
            </a:r>
            <a:r>
              <a:rPr lang="en-US" sz="2000" dirty="0">
                <a:latin typeface="Times New Roman" panose="02020603050405020304" pitchFamily="18" charset="0"/>
                <a:cs typeface="Times New Roman" panose="02020603050405020304" pitchFamily="18" charset="0"/>
              </a:rPr>
              <a:t> capable of high-accuracy breast cancer classification.</a:t>
            </a: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5" name="Content Placeholder 4">
            <a:extLst>
              <a:ext uri="{FF2B5EF4-FFF2-40B4-BE49-F238E27FC236}">
                <a16:creationId xmlns:a16="http://schemas.microsoft.com/office/drawing/2014/main" id="{9D8213E6-1CB9-95E3-EF19-67A678F51DB1}"/>
              </a:ext>
            </a:extLst>
          </p:cNvPr>
          <p:cNvPicPr>
            <a:picLocks noChangeAspect="1"/>
          </p:cNvPicPr>
          <p:nvPr/>
        </p:nvPicPr>
        <p:blipFill>
          <a:blip r:embed="rId2"/>
          <a:stretch>
            <a:fillRect/>
          </a:stretch>
        </p:blipFill>
        <p:spPr>
          <a:xfrm>
            <a:off x="7017113" y="374580"/>
            <a:ext cx="4446018" cy="2835345"/>
          </a:xfrm>
          <a:prstGeom prst="rect">
            <a:avLst/>
          </a:prstGeom>
        </p:spPr>
      </p:pic>
      <p:pic>
        <p:nvPicPr>
          <p:cNvPr id="4" name="image3.png">
            <a:extLst>
              <a:ext uri="{FF2B5EF4-FFF2-40B4-BE49-F238E27FC236}">
                <a16:creationId xmlns:a16="http://schemas.microsoft.com/office/drawing/2014/main" id="{FB167AF3-09FC-DED3-195F-4CFF8C01430D}"/>
              </a:ext>
            </a:extLst>
          </p:cNvPr>
          <p:cNvPicPr>
            <a:picLocks/>
          </p:cNvPicPr>
          <p:nvPr/>
        </p:nvPicPr>
        <p:blipFill>
          <a:blip r:embed="rId3"/>
          <a:srcRect/>
          <a:stretch>
            <a:fillRect/>
          </a:stretch>
        </p:blipFill>
        <p:spPr>
          <a:xfrm>
            <a:off x="7295322" y="3648077"/>
            <a:ext cx="4167809" cy="2714624"/>
          </a:xfrm>
          <a:prstGeom prst="rect">
            <a:avLst/>
          </a:prstGeom>
          <a:ln/>
        </p:spPr>
      </p:pic>
      <p:sp>
        <p:nvSpPr>
          <p:cNvPr id="6" name="TextBox 5">
            <a:extLst>
              <a:ext uri="{FF2B5EF4-FFF2-40B4-BE49-F238E27FC236}">
                <a16:creationId xmlns:a16="http://schemas.microsoft.com/office/drawing/2014/main" id="{587EB9D6-DDDE-4B86-B94C-C522EF15D18B}"/>
              </a:ext>
            </a:extLst>
          </p:cNvPr>
          <p:cNvSpPr txBox="1"/>
          <p:nvPr/>
        </p:nvSpPr>
        <p:spPr>
          <a:xfrm>
            <a:off x="7458947" y="3143250"/>
            <a:ext cx="3562350"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4: MLP learning curve showing training and validation accuracy.</a:t>
            </a:r>
            <a:endParaRPr lang="en-IN"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531E8A3-564E-454B-BC20-8FF540815137}"/>
              </a:ext>
            </a:extLst>
          </p:cNvPr>
          <p:cNvSpPr txBox="1"/>
          <p:nvPr/>
        </p:nvSpPr>
        <p:spPr>
          <a:xfrm>
            <a:off x="7636151" y="6344251"/>
            <a:ext cx="3486150" cy="461665"/>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Fig 5: </a:t>
            </a:r>
            <a:r>
              <a:rPr lang="en-US" sz="1200" dirty="0" err="1">
                <a:latin typeface="Times New Roman" panose="02020603050405020304" pitchFamily="18" charset="0"/>
                <a:cs typeface="Times New Roman" panose="02020603050405020304" pitchFamily="18" charset="0"/>
              </a:rPr>
              <a:t>RAcapsNet</a:t>
            </a:r>
            <a:r>
              <a:rPr lang="en-US" sz="1200" dirty="0">
                <a:latin typeface="Times New Roman" panose="02020603050405020304" pitchFamily="18" charset="0"/>
                <a:cs typeface="Times New Roman" panose="02020603050405020304" pitchFamily="18" charset="0"/>
              </a:rPr>
              <a:t> training and validation accuracy across epochs.</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064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2FBD-0D2E-720E-F56F-476BDE5567B0}"/>
              </a:ext>
            </a:extLst>
          </p:cNvPr>
          <p:cNvSpPr>
            <a:spLocks noGrp="1"/>
          </p:cNvSpPr>
          <p:nvPr>
            <p:ph type="title"/>
          </p:nvPr>
        </p:nvSpPr>
        <p:spPr>
          <a:xfrm>
            <a:off x="927652" y="404883"/>
            <a:ext cx="10515600" cy="1185379"/>
          </a:xfrm>
        </p:spPr>
        <p:txBody>
          <a:bodyPr/>
          <a:lstStyle/>
          <a:p>
            <a:r>
              <a:rPr lang="en-US" b="1" dirty="0">
                <a:latin typeface="Times New Roman" panose="02020603050405020304" pitchFamily="18" charset="0"/>
                <a:cs typeface="Times New Roman" panose="02020603050405020304" pitchFamily="18" charset="0"/>
              </a:rPr>
              <a:t>Result Analysis</a:t>
            </a:r>
            <a:endParaRPr lang="en-IN" dirty="0"/>
          </a:p>
        </p:txBody>
      </p:sp>
      <p:sp>
        <p:nvSpPr>
          <p:cNvPr id="3" name="Content Placeholder 2">
            <a:extLst>
              <a:ext uri="{FF2B5EF4-FFF2-40B4-BE49-F238E27FC236}">
                <a16:creationId xmlns:a16="http://schemas.microsoft.com/office/drawing/2014/main" id="{629D43A7-2FD1-CC67-62EC-59050A54B0F9}"/>
              </a:ext>
            </a:extLst>
          </p:cNvPr>
          <p:cNvSpPr>
            <a:spLocks noGrp="1"/>
          </p:cNvSpPr>
          <p:nvPr>
            <p:ph idx="1"/>
          </p:nvPr>
        </p:nvSpPr>
        <p:spPr>
          <a:xfrm>
            <a:off x="809625" y="1769062"/>
            <a:ext cx="57912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The bar chart of </a:t>
            </a:r>
            <a:r>
              <a:rPr lang="en-US" sz="2000" b="1" dirty="0">
                <a:latin typeface="Times New Roman" panose="02020603050405020304" pitchFamily="18" charset="0"/>
                <a:cs typeface="Times New Roman" panose="02020603050405020304" pitchFamily="18" charset="0"/>
              </a:rPr>
              <a:t>Top Image-Gene Associations</a:t>
            </a:r>
            <a:r>
              <a:rPr lang="en-US" sz="2000" dirty="0">
                <a:latin typeface="Times New Roman" panose="02020603050405020304" pitchFamily="18" charset="0"/>
                <a:cs typeface="Times New Roman" panose="02020603050405020304" pitchFamily="18" charset="0"/>
              </a:rPr>
              <a:t> confirms the successful integration of multimodal data, with the top ten samples all showing strong correlations above </a:t>
            </a:r>
            <a:r>
              <a:rPr lang="en-US" sz="2000" b="1" dirty="0">
                <a:latin typeface="Times New Roman" panose="02020603050405020304" pitchFamily="18" charset="0"/>
                <a:cs typeface="Times New Roman" panose="02020603050405020304" pitchFamily="18" charset="0"/>
              </a:rPr>
              <a:t>0.65</a:t>
            </a:r>
            <a:r>
              <a:rPr lang="en-US" sz="2000" dirty="0">
                <a:latin typeface="Times New Roman" panose="02020603050405020304" pitchFamily="18" charset="0"/>
                <a:cs typeface="Times New Roman" panose="02020603050405020304" pitchFamily="18" charset="0"/>
              </a:rPr>
              <a:t>. A peak alignment score of </a:t>
            </a:r>
            <a:r>
              <a:rPr lang="en-US" sz="2000" b="1" dirty="0">
                <a:latin typeface="Times New Roman" panose="02020603050405020304" pitchFamily="18" charset="0"/>
                <a:cs typeface="Times New Roman" panose="02020603050405020304" pitchFamily="18" charset="0"/>
              </a:rPr>
              <a:t>0.77</a:t>
            </a:r>
            <a:r>
              <a:rPr lang="en-US" sz="2000" dirty="0">
                <a:latin typeface="Times New Roman" panose="02020603050405020304" pitchFamily="18" charset="0"/>
                <a:cs typeface="Times New Roman" panose="02020603050405020304" pitchFamily="18" charset="0"/>
              </a:rPr>
              <a:t> demonstrates that the visual tissue features and genomic data are highly synchronized within the model.</a:t>
            </a:r>
          </a:p>
          <a:p>
            <a:pPr algn="just"/>
            <a:r>
              <a:rPr lang="en-US" sz="2000" dirty="0">
                <a:latin typeface="Times New Roman" panose="02020603050405020304" pitchFamily="18" charset="0"/>
                <a:cs typeface="Times New Roman" panose="02020603050405020304" pitchFamily="18" charset="0"/>
              </a:rPr>
              <a:t>This strong connection validates the system's ability to identify physical tissue patterns that are directly driven by underlying genetic activity. By effectively linking these two data streams, the framework provides a </a:t>
            </a:r>
            <a:r>
              <a:rPr lang="en-US" sz="2000" b="1" dirty="0">
                <a:latin typeface="Times New Roman" panose="02020603050405020304" pitchFamily="18" charset="0"/>
                <a:cs typeface="Times New Roman" panose="02020603050405020304" pitchFamily="18" charset="0"/>
              </a:rPr>
              <a:t>reliable and transparent</a:t>
            </a:r>
            <a:r>
              <a:rPr lang="en-US" sz="2000" dirty="0">
                <a:latin typeface="Times New Roman" panose="02020603050405020304" pitchFamily="18" charset="0"/>
                <a:cs typeface="Times New Roman" panose="02020603050405020304" pitchFamily="18" charset="0"/>
              </a:rPr>
              <a:t> approach to cancer analysis, ensuring the results are both clinically relevant and easy for researchers to interpret.</a:t>
            </a:r>
          </a:p>
        </p:txBody>
      </p:sp>
      <p:pic>
        <p:nvPicPr>
          <p:cNvPr id="6" name="Picture 5">
            <a:extLst>
              <a:ext uri="{FF2B5EF4-FFF2-40B4-BE49-F238E27FC236}">
                <a16:creationId xmlns:a16="http://schemas.microsoft.com/office/drawing/2014/main" id="{8B62D6E6-5EF0-BB62-4EE7-389DE3499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0984" y="1769062"/>
            <a:ext cx="4273825" cy="4197488"/>
          </a:xfrm>
          <a:prstGeom prst="rect">
            <a:avLst/>
          </a:prstGeom>
        </p:spPr>
      </p:pic>
      <p:sp>
        <p:nvSpPr>
          <p:cNvPr id="4" name="TextBox 3">
            <a:extLst>
              <a:ext uri="{FF2B5EF4-FFF2-40B4-BE49-F238E27FC236}">
                <a16:creationId xmlns:a16="http://schemas.microsoft.com/office/drawing/2014/main" id="{49CE7FE2-3513-4456-AEE1-C8133F140572}"/>
              </a:ext>
            </a:extLst>
          </p:cNvPr>
          <p:cNvSpPr txBox="1"/>
          <p:nvPr/>
        </p:nvSpPr>
        <p:spPr>
          <a:xfrm>
            <a:off x="8046758" y="6002702"/>
            <a:ext cx="2962275" cy="461665"/>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Fig 6: Top image–gene associations based on correlation scores.</a:t>
            </a:r>
          </a:p>
        </p:txBody>
      </p:sp>
    </p:spTree>
    <p:extLst>
      <p:ext uri="{BB962C8B-B14F-4D97-AF65-F5344CB8AC3E}">
        <p14:creationId xmlns:p14="http://schemas.microsoft.com/office/powerpoint/2010/main" val="3114912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54B0-7E4B-071C-C56D-1243670A98A3}"/>
              </a:ext>
            </a:extLst>
          </p:cNvPr>
          <p:cNvSpPr>
            <a:spLocks noGrp="1"/>
          </p:cNvSpPr>
          <p:nvPr>
            <p:ph type="title"/>
          </p:nvPr>
        </p:nvSpPr>
        <p:spPr>
          <a:xfrm>
            <a:off x="828262" y="0"/>
            <a:ext cx="10515600" cy="1325563"/>
          </a:xfrm>
        </p:spPr>
        <p:txBody>
          <a:bodyPr/>
          <a:lstStyle/>
          <a:p>
            <a:r>
              <a:rPr lang="en-US" b="1" dirty="0">
                <a:latin typeface="Times New Roman" panose="02020603050405020304" pitchFamily="18" charset="0"/>
                <a:cs typeface="Times New Roman" panose="02020603050405020304" pitchFamily="18" charset="0"/>
              </a:rPr>
              <a:t>Conclusion and Future work</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D9FF0C-1DB7-BEE9-38D2-5D619B9A4716}"/>
              </a:ext>
            </a:extLst>
          </p:cNvPr>
          <p:cNvSpPr>
            <a:spLocks noGrp="1"/>
          </p:cNvSpPr>
          <p:nvPr>
            <p:ph idx="1"/>
          </p:nvPr>
        </p:nvSpPr>
        <p:spPr>
          <a:xfrm>
            <a:off x="848138" y="1195319"/>
            <a:ext cx="10740887" cy="5327374"/>
          </a:xfrm>
        </p:spPr>
        <p:txBody>
          <a:bodyPr>
            <a:normAutofit fontScale="55000" lnSpcReduction="20000"/>
          </a:bodyPr>
          <a:lstStyle/>
          <a:p>
            <a:pPr marL="0" indent="0">
              <a:lnSpc>
                <a:spcPct val="120000"/>
              </a:lnSpc>
              <a:buNone/>
            </a:pPr>
            <a:r>
              <a:rPr lang="en-US" sz="3600" b="1" dirty="0">
                <a:latin typeface="Times New Roman" panose="02020603050405020304" pitchFamily="18" charset="0"/>
                <a:cs typeface="Times New Roman" panose="02020603050405020304" pitchFamily="18" charset="0"/>
              </a:rPr>
              <a:t>Conclusion</a:t>
            </a:r>
          </a:p>
          <a:p>
            <a:pPr marL="0" indent="0" algn="just">
              <a:lnSpc>
                <a:spcPct val="120000"/>
              </a:lnSpc>
              <a:buNone/>
            </a:pPr>
            <a:r>
              <a:rPr lang="en-US" sz="3600" dirty="0">
                <a:latin typeface="Times New Roman" panose="02020603050405020304" pitchFamily="18" charset="0"/>
                <a:cs typeface="Times New Roman" panose="02020603050405020304" pitchFamily="18" charset="0"/>
              </a:rPr>
              <a:t>This study successfully developed a robust framework that synchronizes histopathological imaging with genomic profiles using deep learning and dimensionality reduction. By achieving significant cross-modal alignment—with peak similarity scores exceeding 0.65, the system proves that visual tissue patterns accurately reflect underlying molecular signatures. Ultimately, this scalable and data-driven approach provides an interpretable foundation for computational oncology, enabling a more comprehensive and meaningful understanding of breast cancer biology.</a:t>
            </a:r>
          </a:p>
          <a:p>
            <a:pPr marL="0" indent="0">
              <a:lnSpc>
                <a:spcPct val="120000"/>
              </a:lnSpc>
              <a:buNone/>
            </a:pPr>
            <a:r>
              <a:rPr lang="en-US" sz="3600" b="1" dirty="0">
                <a:latin typeface="Times New Roman" panose="02020603050405020304" pitchFamily="18" charset="0"/>
                <a:cs typeface="Times New Roman" panose="02020603050405020304" pitchFamily="18" charset="0"/>
              </a:rPr>
              <a:t>Future Work</a:t>
            </a:r>
          </a:p>
          <a:p>
            <a:pPr>
              <a:lnSpc>
                <a:spcPct val="120000"/>
              </a:lnSpc>
            </a:pPr>
            <a:r>
              <a:rPr lang="en-US" sz="3600" dirty="0">
                <a:latin typeface="Times New Roman" panose="02020603050405020304" pitchFamily="18" charset="0"/>
                <a:cs typeface="Times New Roman" panose="02020603050405020304" pitchFamily="18" charset="0"/>
              </a:rPr>
              <a:t>Advanced Architectures: Implement Vision Transformers (</a:t>
            </a:r>
            <a:r>
              <a:rPr lang="en-US" sz="3600" dirty="0" err="1">
                <a:latin typeface="Times New Roman" panose="02020603050405020304" pitchFamily="18" charset="0"/>
                <a:cs typeface="Times New Roman" panose="02020603050405020304" pitchFamily="18" charset="0"/>
              </a:rPr>
              <a:t>ViT</a:t>
            </a:r>
            <a:r>
              <a:rPr lang="en-US" sz="3600" dirty="0">
                <a:latin typeface="Times New Roman" panose="02020603050405020304" pitchFamily="18" charset="0"/>
                <a:cs typeface="Times New Roman" panose="02020603050405020304" pitchFamily="18" charset="0"/>
              </a:rPr>
              <a:t>) and attention-based networks to enhance the precision of feature extraction.</a:t>
            </a:r>
          </a:p>
          <a:p>
            <a:r>
              <a:rPr lang="en-US" sz="3600" dirty="0">
                <a:latin typeface="Times New Roman" panose="02020603050405020304" pitchFamily="18" charset="0"/>
                <a:cs typeface="Times New Roman" panose="02020603050405020304" pitchFamily="18" charset="0"/>
              </a:rPr>
              <a:t>Multi-Omics Expansion: Incorporate additional modalities such as radiological imaging, clinical records, and proteomic data for a holistic diagnostic view.</a:t>
            </a:r>
          </a:p>
          <a:p>
            <a:r>
              <a:rPr lang="en-US" sz="3600" dirty="0">
                <a:latin typeface="Times New Roman" panose="02020603050405020304" pitchFamily="18" charset="0"/>
                <a:cs typeface="Times New Roman" panose="02020603050405020304" pitchFamily="18" charset="0"/>
              </a:rPr>
              <a:t>Spatial Interpretability: Integrate gene importance analysis and spatial attention to pinpoint exact tissue regions linked to specific genetic alterations.</a:t>
            </a:r>
          </a:p>
          <a:p>
            <a:r>
              <a:rPr lang="en-US" sz="3600" dirty="0">
                <a:latin typeface="Times New Roman" panose="02020603050405020304" pitchFamily="18" charset="0"/>
                <a:cs typeface="Times New Roman" panose="02020603050405020304" pitchFamily="18" charset="0"/>
              </a:rPr>
              <a:t>Clinical Tools: Develop interactive visualization platforms to help clinicians explore genotype-phenotype relationships in real-time.</a:t>
            </a:r>
          </a:p>
          <a:p>
            <a:pPr marL="0" indent="0">
              <a:buNone/>
            </a:pPr>
            <a:endParaRPr lang="en-IN" dirty="0"/>
          </a:p>
        </p:txBody>
      </p:sp>
    </p:spTree>
    <p:extLst>
      <p:ext uri="{BB962C8B-B14F-4D97-AF65-F5344CB8AC3E}">
        <p14:creationId xmlns:p14="http://schemas.microsoft.com/office/powerpoint/2010/main" val="1242765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7365-17E3-C603-F347-A3B9D2AA40C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F5CFA4A9-9DE2-66A8-1740-9D8CC388E3DE}"/>
              </a:ext>
            </a:extLst>
          </p:cNvPr>
          <p:cNvSpPr>
            <a:spLocks noGrp="1"/>
          </p:cNvSpPr>
          <p:nvPr>
            <p:ph idx="1"/>
          </p:nvPr>
        </p:nvSpPr>
        <p:spPr>
          <a:xfrm>
            <a:off x="838200" y="1600200"/>
            <a:ext cx="10515600" cy="4962249"/>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Zhan, Xiaohui, et al. "Correlation analysis of histopathology and </a:t>
            </a:r>
            <a:r>
              <a:rPr lang="en-US" sz="2000" dirty="0" err="1">
                <a:latin typeface="Times New Roman" panose="02020603050405020304" pitchFamily="18" charset="0"/>
                <a:cs typeface="Times New Roman" panose="02020603050405020304" pitchFamily="18" charset="0"/>
              </a:rPr>
              <a:t>proteogenomics</a:t>
            </a:r>
            <a:r>
              <a:rPr lang="en-US" sz="2000" dirty="0">
                <a:latin typeface="Times New Roman" panose="02020603050405020304" pitchFamily="18" charset="0"/>
                <a:cs typeface="Times New Roman" panose="02020603050405020304" pitchFamily="18" charset="0"/>
              </a:rPr>
              <a:t> data for breast cancer." </a:t>
            </a:r>
            <a:r>
              <a:rPr lang="en-US" sz="2000" i="1" dirty="0">
                <a:latin typeface="Times New Roman" panose="02020603050405020304" pitchFamily="18" charset="0"/>
                <a:cs typeface="Times New Roman" panose="02020603050405020304" pitchFamily="18" charset="0"/>
              </a:rPr>
              <a:t>Molecular &amp; Cellular Proteomics</a:t>
            </a:r>
            <a:r>
              <a:rPr lang="en-US" sz="2000" dirty="0">
                <a:latin typeface="Times New Roman" panose="02020603050405020304" pitchFamily="18" charset="0"/>
                <a:cs typeface="Times New Roman" panose="02020603050405020304" pitchFamily="18" charset="0"/>
              </a:rPr>
              <a:t> 18.8 (2019): S37-S51.</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Chen, </a:t>
            </a:r>
            <a:r>
              <a:rPr lang="en-US" sz="2000" dirty="0" err="1">
                <a:latin typeface="Times New Roman" panose="02020603050405020304" pitchFamily="18" charset="0"/>
                <a:cs typeface="Times New Roman" panose="02020603050405020304" pitchFamily="18" charset="0"/>
              </a:rPr>
              <a:t>Linyan</a:t>
            </a:r>
            <a:r>
              <a:rPr lang="en-US" sz="2000" dirty="0">
                <a:latin typeface="Times New Roman" panose="02020603050405020304" pitchFamily="18" charset="0"/>
                <a:cs typeface="Times New Roman" panose="02020603050405020304" pitchFamily="18" charset="0"/>
              </a:rPr>
              <a:t>, et al. "Histopathological image and gene expression pattern analysis for predicting molecular features and prognosis of head and neck squamous cell carcinoma." </a:t>
            </a:r>
            <a:r>
              <a:rPr lang="en-US" sz="2000" i="1" dirty="0">
                <a:latin typeface="Times New Roman" panose="02020603050405020304" pitchFamily="18" charset="0"/>
                <a:cs typeface="Times New Roman" panose="02020603050405020304" pitchFamily="18" charset="0"/>
              </a:rPr>
              <a:t>Cancer medicine</a:t>
            </a:r>
            <a:r>
              <a:rPr lang="en-US" sz="2000" dirty="0">
                <a:latin typeface="Times New Roman" panose="02020603050405020304" pitchFamily="18" charset="0"/>
                <a:cs typeface="Times New Roman" panose="02020603050405020304" pitchFamily="18" charset="0"/>
              </a:rPr>
              <a:t> 10.13 (2021): 4615-4628.</a:t>
            </a:r>
          </a:p>
          <a:p>
            <a:pPr marL="0" indent="0">
              <a:buNone/>
            </a:pPr>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Thennavan</a:t>
            </a:r>
            <a:r>
              <a:rPr lang="en-US" sz="2000" dirty="0">
                <a:latin typeface="Times New Roman" panose="02020603050405020304" pitchFamily="18" charset="0"/>
                <a:cs typeface="Times New Roman" panose="02020603050405020304" pitchFamily="18" charset="0"/>
              </a:rPr>
              <a:t>, Aatish, et al. "Molecular analysis of TCGA breast cancer histologic types." </a:t>
            </a:r>
            <a:r>
              <a:rPr lang="en-US" sz="2000" i="1" dirty="0">
                <a:latin typeface="Times New Roman" panose="02020603050405020304" pitchFamily="18" charset="0"/>
                <a:cs typeface="Times New Roman" panose="02020603050405020304" pitchFamily="18" charset="0"/>
              </a:rPr>
              <a:t>Cell genomics</a:t>
            </a:r>
            <a:r>
              <a:rPr lang="en-US" sz="2000" dirty="0">
                <a:latin typeface="Times New Roman" panose="02020603050405020304" pitchFamily="18" charset="0"/>
                <a:cs typeface="Times New Roman" panose="02020603050405020304" pitchFamily="18" charset="0"/>
              </a:rPr>
              <a:t> 1.3 (2021).</a:t>
            </a:r>
          </a:p>
          <a:p>
            <a:pPr marL="0" indent="0">
              <a:buNone/>
            </a:pPr>
            <a:r>
              <a:rPr lang="en-US" sz="2000" dirty="0">
                <a:latin typeface="Times New Roman" panose="02020603050405020304" pitchFamily="18" charset="0"/>
                <a:cs typeface="Times New Roman" panose="02020603050405020304" pitchFamily="18" charset="0"/>
              </a:rPr>
              <a:t>[4] Mondol, Raktim Kumar, et al. "hist2rna: an efficient deep learning architecture to predict gene expression from breast cancer histopathology images." </a:t>
            </a:r>
            <a:r>
              <a:rPr lang="en-US" sz="2000" i="1" dirty="0">
                <a:latin typeface="Times New Roman" panose="02020603050405020304" pitchFamily="18" charset="0"/>
                <a:cs typeface="Times New Roman" panose="02020603050405020304" pitchFamily="18" charset="0"/>
              </a:rPr>
              <a:t>Cancers</a:t>
            </a:r>
            <a:r>
              <a:rPr lang="en-US" sz="2000" dirty="0">
                <a:latin typeface="Times New Roman" panose="02020603050405020304" pitchFamily="18" charset="0"/>
                <a:cs typeface="Times New Roman" panose="02020603050405020304" pitchFamily="18" charset="0"/>
              </a:rPr>
              <a:t> 15.9 (2023): 2569.</a:t>
            </a:r>
          </a:p>
          <a:p>
            <a:pPr marL="0" indent="0">
              <a:buNone/>
            </a:pPr>
            <a:r>
              <a:rPr lang="en-US" sz="2000" dirty="0">
                <a:latin typeface="Times New Roman" panose="02020603050405020304" pitchFamily="18" charset="0"/>
                <a:cs typeface="Times New Roman" panose="02020603050405020304" pitchFamily="18" charset="0"/>
              </a:rPr>
              <a:t>[5] Ash, Jordan T., et al. "Joint analysis of expression levels and histological images identifies genes associated with tissue morphology." </a:t>
            </a:r>
            <a:r>
              <a:rPr lang="en-US" sz="2000" i="1" dirty="0">
                <a:latin typeface="Times New Roman" panose="02020603050405020304" pitchFamily="18" charset="0"/>
                <a:cs typeface="Times New Roman" panose="02020603050405020304" pitchFamily="18" charset="0"/>
              </a:rPr>
              <a:t>Nature communications</a:t>
            </a:r>
            <a:r>
              <a:rPr lang="en-US" sz="2000" dirty="0">
                <a:latin typeface="Times New Roman" panose="02020603050405020304" pitchFamily="18" charset="0"/>
                <a:cs typeface="Times New Roman" panose="02020603050405020304" pitchFamily="18" charset="0"/>
              </a:rPr>
              <a:t> 12.1 (2021): 1609.</a:t>
            </a:r>
          </a:p>
          <a:p>
            <a:pPr marL="0" indent="0">
              <a:buNone/>
            </a:pPr>
            <a:r>
              <a:rPr lang="en-US" sz="2000" dirty="0">
                <a:latin typeface="Times New Roman" panose="02020603050405020304" pitchFamily="18" charset="0"/>
                <a:cs typeface="Times New Roman" panose="02020603050405020304" pitchFamily="18" charset="0"/>
              </a:rPr>
              <a:t>[6] Yeh, Albert C., et al. "</a:t>
            </a:r>
            <a:r>
              <a:rPr lang="en-US" sz="2000" dirty="0" err="1">
                <a:latin typeface="Times New Roman" panose="02020603050405020304" pitchFamily="18" charset="0"/>
                <a:cs typeface="Times New Roman" panose="02020603050405020304" pitchFamily="18" charset="0"/>
              </a:rPr>
              <a:t>Radiogenomics</a:t>
            </a:r>
            <a:r>
              <a:rPr lang="en-US" sz="2000" dirty="0">
                <a:latin typeface="Times New Roman" panose="02020603050405020304" pitchFamily="18" charset="0"/>
                <a:cs typeface="Times New Roman" panose="02020603050405020304" pitchFamily="18" charset="0"/>
              </a:rPr>
              <a:t> of breast cancer using dynamic contrast enhanced MRI and gene expression profiling." </a:t>
            </a:r>
            <a:r>
              <a:rPr lang="en-US" sz="2000" i="1" dirty="0">
                <a:latin typeface="Times New Roman" panose="02020603050405020304" pitchFamily="18" charset="0"/>
                <a:cs typeface="Times New Roman" panose="02020603050405020304" pitchFamily="18" charset="0"/>
              </a:rPr>
              <a:t>Cancer Imaging</a:t>
            </a:r>
            <a:r>
              <a:rPr lang="en-US" sz="2000" dirty="0">
                <a:latin typeface="Times New Roman" panose="02020603050405020304" pitchFamily="18" charset="0"/>
                <a:cs typeface="Times New Roman" panose="02020603050405020304" pitchFamily="18" charset="0"/>
              </a:rPr>
              <a:t> 19.1 (2019): 48.</a:t>
            </a:r>
          </a:p>
        </p:txBody>
      </p:sp>
    </p:spTree>
    <p:extLst>
      <p:ext uri="{BB962C8B-B14F-4D97-AF65-F5344CB8AC3E}">
        <p14:creationId xmlns:p14="http://schemas.microsoft.com/office/powerpoint/2010/main" val="3955053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08E67-9683-79E3-AD5F-A7A3D44BA5C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 </a:t>
            </a:r>
            <a:endParaRPr lang="en-IN" dirty="0"/>
          </a:p>
        </p:txBody>
      </p:sp>
      <p:sp>
        <p:nvSpPr>
          <p:cNvPr id="3" name="Content Placeholder 2">
            <a:extLst>
              <a:ext uri="{FF2B5EF4-FFF2-40B4-BE49-F238E27FC236}">
                <a16:creationId xmlns:a16="http://schemas.microsoft.com/office/drawing/2014/main" id="{DCABFA44-E4D1-33CB-675A-8AD279479B7D}"/>
              </a:ext>
            </a:extLst>
          </p:cNvPr>
          <p:cNvSpPr>
            <a:spLocks noGrp="1"/>
          </p:cNvSpPr>
          <p:nvPr>
            <p:ph idx="1"/>
          </p:nvPr>
        </p:nvSpPr>
        <p:spPr>
          <a:xfrm>
            <a:off x="917713" y="1523275"/>
            <a:ext cx="10515600" cy="3811449"/>
          </a:xfrm>
        </p:spPr>
        <p:txBody>
          <a:bodyPr>
            <a:normAutofit fontScale="85000" lnSpcReduction="10000"/>
          </a:bodyPr>
          <a:lstStyle/>
          <a:p>
            <a:pPr marL="0" indent="0">
              <a:buNone/>
            </a:pPr>
            <a:r>
              <a:rPr lang="en-US" sz="2400" dirty="0">
                <a:latin typeface="Times New Roman" panose="02020603050405020304" pitchFamily="18" charset="0"/>
                <a:cs typeface="Times New Roman" panose="02020603050405020304" pitchFamily="18" charset="0"/>
              </a:rPr>
              <a:t>[7] Dou, </a:t>
            </a:r>
            <a:r>
              <a:rPr lang="en-US" sz="2400" dirty="0" err="1">
                <a:latin typeface="Times New Roman" panose="02020603050405020304" pitchFamily="18" charset="0"/>
                <a:cs typeface="Times New Roman" panose="02020603050405020304" pitchFamily="18" charset="0"/>
              </a:rPr>
              <a:t>Tingyao</a:t>
            </a:r>
            <a:r>
              <a:rPr lang="en-US" sz="2400" dirty="0">
                <a:latin typeface="Times New Roman" panose="02020603050405020304" pitchFamily="18" charset="0"/>
                <a:cs typeface="Times New Roman" panose="02020603050405020304" pitchFamily="18" charset="0"/>
              </a:rPr>
              <a:t>, et al. "</a:t>
            </a:r>
            <a:r>
              <a:rPr lang="en-US" sz="2400" dirty="0" err="1">
                <a:latin typeface="Times New Roman" panose="02020603050405020304" pitchFamily="18" charset="0"/>
                <a:cs typeface="Times New Roman" panose="02020603050405020304" pitchFamily="18" charset="0"/>
              </a:rPr>
              <a:t>Radiogenomic</a:t>
            </a:r>
            <a:r>
              <a:rPr lang="en-US" sz="2400" dirty="0">
                <a:latin typeface="Times New Roman" panose="02020603050405020304" pitchFamily="18" charset="0"/>
                <a:cs typeface="Times New Roman" panose="02020603050405020304" pitchFamily="18" charset="0"/>
              </a:rPr>
              <a:t> analysis of clinical and ultrasonic characteristics in correlation to immune-related genes in breast cancer." Scientific Reports 15.1 (2025): 15918.</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[8] Wang, </a:t>
            </a:r>
            <a:r>
              <a:rPr lang="en-IN" sz="2400" dirty="0" err="1">
                <a:latin typeface="Times New Roman" panose="02020603050405020304" pitchFamily="18" charset="0"/>
                <a:cs typeface="Times New Roman" panose="02020603050405020304" pitchFamily="18" charset="0"/>
              </a:rPr>
              <a:t>Zhikang</a:t>
            </a:r>
            <a:r>
              <a:rPr lang="en-IN" sz="2400" dirty="0">
                <a:latin typeface="Times New Roman" panose="02020603050405020304" pitchFamily="18" charset="0"/>
                <a:cs typeface="Times New Roman" panose="02020603050405020304" pitchFamily="18" charset="0"/>
              </a:rPr>
              <a:t>, et al. "</a:t>
            </a:r>
            <a:r>
              <a:rPr lang="en-IN" sz="2400" dirty="0" err="1">
                <a:latin typeface="Times New Roman" panose="02020603050405020304" pitchFamily="18" charset="0"/>
                <a:cs typeface="Times New Roman" panose="02020603050405020304" pitchFamily="18" charset="0"/>
              </a:rPr>
              <a:t>Histo</a:t>
            </a:r>
            <a:r>
              <a:rPr lang="en-IN" sz="2400" dirty="0">
                <a:latin typeface="Times New Roman" panose="02020603050405020304" pitchFamily="18" charset="0"/>
                <a:cs typeface="Times New Roman" panose="02020603050405020304" pitchFamily="18" charset="0"/>
              </a:rPr>
              <a:t>-genomic knowledge association for cancer prognosis from histopathology whole slide images." </a:t>
            </a:r>
            <a:r>
              <a:rPr lang="en-IN" sz="2400" i="1" dirty="0">
                <a:latin typeface="Times New Roman" panose="02020603050405020304" pitchFamily="18" charset="0"/>
                <a:cs typeface="Times New Roman" panose="02020603050405020304" pitchFamily="18" charset="0"/>
              </a:rPr>
              <a:t>IEEE Transactions on Medical Imaging</a:t>
            </a:r>
            <a:r>
              <a:rPr lang="en-IN" sz="2400" dirty="0">
                <a:latin typeface="Times New Roman" panose="02020603050405020304" pitchFamily="18" charset="0"/>
                <a:cs typeface="Times New Roman" panose="02020603050405020304" pitchFamily="18" charset="0"/>
              </a:rPr>
              <a:t> 44.5 (2025): 2170-2181. </a:t>
            </a:r>
          </a:p>
          <a:p>
            <a:pPr marL="0" indent="0">
              <a:buNone/>
            </a:pPr>
            <a:r>
              <a:rPr lang="en-IN" sz="2400" dirty="0">
                <a:latin typeface="Times New Roman" panose="02020603050405020304" pitchFamily="18" charset="0"/>
                <a:cs typeface="Times New Roman" panose="02020603050405020304" pitchFamily="18" charset="0"/>
              </a:rPr>
              <a:t>[9]  Liou, Kenny, and Ji-Ping Wang. "Integrating genetic and gene expression data in network-based stratification analysis of cancers." </a:t>
            </a:r>
            <a:r>
              <a:rPr lang="en-IN" sz="2400" i="1" dirty="0">
                <a:latin typeface="Times New Roman" panose="02020603050405020304" pitchFamily="18" charset="0"/>
                <a:cs typeface="Times New Roman" panose="02020603050405020304" pitchFamily="18" charset="0"/>
              </a:rPr>
              <a:t>BMC bioinformatics</a:t>
            </a:r>
            <a:r>
              <a:rPr lang="en-IN" sz="2400" dirty="0">
                <a:latin typeface="Times New Roman" panose="02020603050405020304" pitchFamily="18" charset="0"/>
                <a:cs typeface="Times New Roman" panose="02020603050405020304" pitchFamily="18" charset="0"/>
              </a:rPr>
              <a:t> 26.1 (2025): 126. </a:t>
            </a:r>
          </a:p>
          <a:p>
            <a:pPr marL="0" indent="0">
              <a:buNone/>
            </a:pPr>
            <a:r>
              <a:rPr lang="en-US" sz="2400" dirty="0">
                <a:latin typeface="Times New Roman" panose="02020603050405020304" pitchFamily="18" charset="0"/>
                <a:cs typeface="Times New Roman" panose="02020603050405020304" pitchFamily="18" charset="0"/>
              </a:rPr>
              <a:t>[10] </a:t>
            </a:r>
            <a:r>
              <a:rPr lang="en-IN" sz="2400" dirty="0">
                <a:latin typeface="Times New Roman" panose="02020603050405020304" pitchFamily="18" charset="0"/>
                <a:cs typeface="Times New Roman" panose="02020603050405020304" pitchFamily="18" charset="0"/>
              </a:rPr>
              <a:t>Mehmood, Aamir, et al. "Comparative analysis of the genomic and expression profiles of ANLN and KDR as prognostic markers in breast cancer." </a:t>
            </a:r>
            <a:r>
              <a:rPr lang="en-IN" sz="2400" i="1" dirty="0">
                <a:latin typeface="Times New Roman" panose="02020603050405020304" pitchFamily="18" charset="0"/>
                <a:cs typeface="Times New Roman" panose="02020603050405020304" pitchFamily="18" charset="0"/>
              </a:rPr>
              <a:t>In Silico Pharmacology</a:t>
            </a:r>
            <a:r>
              <a:rPr lang="en-IN" sz="2400" dirty="0">
                <a:latin typeface="Times New Roman" panose="02020603050405020304" pitchFamily="18" charset="0"/>
                <a:cs typeface="Times New Roman" panose="02020603050405020304" pitchFamily="18" charset="0"/>
              </a:rPr>
              <a:t> 13.1 (2025): 15</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[11] </a:t>
            </a:r>
            <a:r>
              <a:rPr lang="en-IN" sz="2400" dirty="0">
                <a:latin typeface="Times New Roman" panose="02020603050405020304" pitchFamily="18" charset="0"/>
                <a:cs typeface="Times New Roman" panose="02020603050405020304" pitchFamily="18" charset="0"/>
              </a:rPr>
              <a:t>Ji, Juan, et al. "Artificial Intelligence‐Based Pathology to Assist Prediction of Neoadjuvant Therapy Responses for Breast Cancer." </a:t>
            </a:r>
            <a:r>
              <a:rPr lang="en-IN" sz="2400" i="1" dirty="0">
                <a:latin typeface="Times New Roman" panose="02020603050405020304" pitchFamily="18" charset="0"/>
                <a:cs typeface="Times New Roman" panose="02020603050405020304" pitchFamily="18" charset="0"/>
              </a:rPr>
              <a:t>Cancer Medicine</a:t>
            </a:r>
            <a:r>
              <a:rPr lang="en-IN" sz="2400" dirty="0">
                <a:latin typeface="Times New Roman" panose="02020603050405020304" pitchFamily="18" charset="0"/>
                <a:cs typeface="Times New Roman" panose="02020603050405020304" pitchFamily="18" charset="0"/>
              </a:rPr>
              <a:t> 14.15 (2025): e71132</a:t>
            </a:r>
          </a:p>
          <a:p>
            <a:pPr marL="0" indent="0">
              <a:buNone/>
            </a:pPr>
            <a:endParaRPr lang="en-IN" dirty="0"/>
          </a:p>
        </p:txBody>
      </p:sp>
    </p:spTree>
    <p:extLst>
      <p:ext uri="{BB962C8B-B14F-4D97-AF65-F5344CB8AC3E}">
        <p14:creationId xmlns:p14="http://schemas.microsoft.com/office/powerpoint/2010/main" val="8156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Free - World Cancer Day PowerPoint Template and Google Slides Theme">
            <a:extLst>
              <a:ext uri="{FF2B5EF4-FFF2-40B4-BE49-F238E27FC236}">
                <a16:creationId xmlns:a16="http://schemas.microsoft.com/office/drawing/2014/main" id="{6EC123C4-8BBD-C163-0453-390C1C761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913" y="665922"/>
            <a:ext cx="10217426" cy="5334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928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3259</TotalTime>
  <Words>2565</Words>
  <Application>Microsoft Office PowerPoint</Application>
  <PresentationFormat>Widescreen</PresentationFormat>
  <Paragraphs>189</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    Correlation-Aware Multimodal Analysis of Histopathological Imaging and Genomic Profiles for Breast Cancer</vt:lpstr>
      <vt:lpstr>Agenda</vt:lpstr>
      <vt:lpstr>Introduction </vt:lpstr>
      <vt:lpstr>Problem statement</vt:lpstr>
      <vt:lpstr>Objectives and Outcomes of the Project</vt:lpstr>
      <vt:lpstr>PowerPoint Presentation</vt:lpstr>
      <vt:lpstr>Literature Summary</vt:lpstr>
      <vt:lpstr>Datasets and Requirements</vt:lpstr>
      <vt:lpstr>Algorithms - CNN</vt:lpstr>
      <vt:lpstr>Algorithms – Cosine Similarity</vt:lpstr>
      <vt:lpstr>PowerPoint Presentation</vt:lpstr>
      <vt:lpstr> Implementation Steps and Execution</vt:lpstr>
      <vt:lpstr> Implementation Steps and Execution</vt:lpstr>
      <vt:lpstr>Results </vt:lpstr>
      <vt:lpstr>Results</vt:lpstr>
      <vt:lpstr>Result Analysis</vt:lpstr>
      <vt:lpstr>Result Analysis</vt:lpstr>
      <vt:lpstr>Conclusion and Future work</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Monitoring Crop dynamics using twdtw</dc:title>
  <dc:creator>Gayathri Vinukollu</dc:creator>
  <cp:lastModifiedBy>Srinija Ramisetty</cp:lastModifiedBy>
  <cp:revision>148</cp:revision>
  <dcterms:created xsi:type="dcterms:W3CDTF">2024-07-22T09:13:47Z</dcterms:created>
  <dcterms:modified xsi:type="dcterms:W3CDTF">2026-04-20T10:48:31Z</dcterms:modified>
</cp:coreProperties>
</file>